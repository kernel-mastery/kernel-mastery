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THP 比例 (%)</c:v>
                </c:pt>
              </c:strCache>
            </c:strRef>
          </c:tx>
          <c:spPr>
            <a:solidFill>
              <a:srgbClr val="0077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EA-4252-9EB7-CA40E3414645}"/>
              </c:ext>
            </c:extLst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EA-4252-9EB7-CA40E3414645}"/>
              </c:ext>
            </c:extLst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EA-4252-9EB7-CA40E3414645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EA-4252-9EB7-CA40E3414645}"/>
              </c:ext>
            </c:extLst>
          </c:dPt>
          <c:dPt>
            <c:idx val="4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EA-4252-9EB7-CA40E3414645}"/>
              </c:ext>
            </c:extLst>
          </c:dPt>
          <c:dPt>
            <c:idx val="5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EA-4252-9EB7-CA40E34146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D1B2A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0-10%</c:v>
                </c:pt>
                <c:pt idx="1">
                  <c:v>10-20%</c:v>
                </c:pt>
                <c:pt idx="2">
                  <c:v>20-30%</c:v>
                </c:pt>
                <c:pt idx="3">
                  <c:v>30-40%</c:v>
                </c:pt>
                <c:pt idx="4">
                  <c:v>40-50%</c:v>
                </c:pt>
                <c:pt idx="5">
                  <c:v>50%+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94.6</c:v>
                </c:pt>
                <c:pt idx="1">
                  <c:v>2.8</c:v>
                </c:pt>
                <c:pt idx="2">
                  <c:v>1</c:v>
                </c:pt>
                <c:pt idx="3">
                  <c:v>0.6</c:v>
                </c:pt>
                <c:pt idx="4">
                  <c:v>0.5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8EA-4252-9EB7-CA40E34146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lang="zh-CN" altLang="en-US" sz="1400" b="0" i="0" u="none" strike="noStrike" dirty="0">
                    <a:solidFill>
                      <a:srgbClr val="000000"/>
                    </a:solidFill>
                    <a:latin typeface="Arial" panose="020B0604020202090204"/>
                  </a:rPr>
                  <a:t>热子页比例</a:t>
                </a:r>
              </a:p>
            </c:rich>
          </c:tx>
          <c:layout>
            <c:manualLayout>
              <c:xMode val="edge"/>
              <c:yMode val="edge"/>
              <c:x val="0.46695609708269226"/>
              <c:y val="0.88505936757905279"/>
            </c:manualLayout>
          </c:layout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 panose="020B0604020202090204"/>
                  </a:rPr>
                  <a:t>占比 </a:t>
                </a:r>
                <a:r>
                  <a:rPr lang="en-US" altLang="zh-CN" b="0" i="0" u="none" strike="noStrike">
                    <a:solidFill>
                      <a:srgbClr val="000000"/>
                    </a:solidFill>
                    <a:latin typeface="Arial" panose="020B0604020202090204"/>
                  </a:rPr>
                  <a:t>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536654c-6c10-4c9b-806d-51c4523f4f1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演讲者模式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in Production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· Gaps · Future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王炼 / lianux.mm</a:t>
            </a:r>
          </a:p>
          <a:p>
            <a:pPr marL="0" indent="0">
              <a:buNone/>
            </a:pPr>
            <a:endParaRPr lang="en-US" sz="1500" b="1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进程使命（上海）科技有限公司 · 高级内核研发工程师</a:t>
            </a:r>
            <a:endParaRPr lang="en-US" sz="1500" dirty="0"/>
          </a:p>
          <a:p>
            <a:pPr marL="0" indent="0">
              <a:buNone/>
            </a:pPr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5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笑傲内核</a:t>
            </a:r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发起人 &amp; PM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lianux.mm@gmail.com  |  github.com/lianux-mm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11A8794-22A9-2AEE-547F-B2DE55042A0D}"/>
              </a:ext>
            </a:extLst>
          </p:cNvPr>
          <p:cNvSpPr/>
          <p:nvPr/>
        </p:nvSpPr>
        <p:spPr>
          <a:xfrm>
            <a:off x="5523722" y="3020838"/>
            <a:ext cx="3098386" cy="10423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陈涛 </a:t>
            </a:r>
            <a:r>
              <a:rPr lang="en-US" altLang="zh-CN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Kunwu Chan</a:t>
            </a:r>
          </a:p>
          <a:p>
            <a:pPr marL="0" indent="0">
              <a:buNone/>
            </a:pPr>
            <a:endParaRPr lang="zh-CN" altLang="en-US" sz="15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altLang="zh-CN" sz="15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笑傲内核</a:t>
            </a:r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r>
              <a:rPr lang="en-US" altLang="zh-CN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发起人</a:t>
            </a:r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之一 </a:t>
            </a:r>
            <a:endParaRPr lang="en-US" altLang="zh-CN" sz="15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zh-CN" alt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麒麟软件 资深研发工程师</a:t>
            </a:r>
            <a:endParaRPr lang="en-US" altLang="zh-CN" sz="15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B4B73AF-43BA-7D28-B085-882F43D8E848}"/>
              </a:ext>
            </a:extLst>
          </p:cNvPr>
          <p:cNvSpPr/>
          <p:nvPr/>
        </p:nvSpPr>
        <p:spPr>
          <a:xfrm>
            <a:off x="5629469" y="4288193"/>
            <a:ext cx="197809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kunwu.chan@gmail.com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0F9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4300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  发现两个坑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23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盲点（T1）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 粒度放大（T2）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0F9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4300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修复了它们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423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min_nr_accesses</a:t>
            </a: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filter 精确选择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0F9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14300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 推进硬件辅助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28600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</a:t>
            </a: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 + 华为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精确反馈机制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生产环境来源：深信服 Kunpeng 920 + KVM / Oracle DB, </a:t>
            </a:r>
            <a:r>
              <a:rPr lang="zh-CN" alt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 戴朝炳 老师提供</a:t>
            </a:r>
            <a:r>
              <a:rPr lang="en-US" altLang="zh-CN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zh-CN" altLang="en-US" sz="1100" i="1" dirty="0">
              <a:solidFill>
                <a:srgbClr val="64748B"/>
              </a:solidFill>
              <a:latin typeface="Calibri" pitchFamily="34" charset="0"/>
              <a:ea typeface="SimSun" charset="0"/>
              <a:cs typeface="Calibri" pitchFamily="34" charset="-12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220845" y="48063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极简回顾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监控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 Accessed Bit (AF)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自适应区域合并/</a:t>
            </a:r>
            <a:r>
              <a:rPr lang="en-US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</a:t>
            </a: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访问频率计数</a:t>
            </a: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年龄追踪 (age)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26280" y="2834640"/>
            <a:ext cx="50292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26517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0FDF4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88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 执行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4747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pageout</a:t>
            </a: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冷页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大页（新增）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大页（新增）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基于 Access Pattern 触发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v5.15 合入主线  ·  Amazon / Android / Fedora / Meta / Google 生产使用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T1：TLB 盲点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问题根源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44805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Kunpeng 920 L2 TLB：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2048 entries × 2MB = 4GB 覆盖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set &lt; 4GB 时：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CPU 访问 → TLB 命中 → 不走页表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 永远不会被重新设置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DAMON 看到 nr_accesses = 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所有 DAMOS 策略都不触发 ⚠️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0515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188720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修复方案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51200" y="1581912"/>
            <a:ext cx="29527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min_nr_accesses = 0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scheme 在 AF=0 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时也可触发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address filter 做精确目标选择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影响：小内存工作负载下 DAMON 完全失明  ·  架构无关，x86 和 ARM 均受影响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T2：PMD 粒度放大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0FDF4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实际情况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2MB THP（512 个子页）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1920240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912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46504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1096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1920240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9464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4056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98648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92424" y="1920240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2728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2130552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912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46504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11096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75688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04872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9464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34056" y="2130552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98648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27832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2424" y="2130552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952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8136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52728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17320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81912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46504" y="2340864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11096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75688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40280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04872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9464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34056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98648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63240" y="2340864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27832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92424" y="2340864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3544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88136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52728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17320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81912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46504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11096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75688" y="2551176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40280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04872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69464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34056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98648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63240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27832" y="2551176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92424" y="2551176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952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3544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88136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252728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17320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581912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46504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11096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75688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40280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04872" y="2761488"/>
            <a:ext cx="155448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69464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34056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898648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63240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27832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92424" y="2761488"/>
            <a:ext cx="155448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子页实际被访问（绿色）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434340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8" name="Text 96"/>
          <p:cNvSpPr/>
          <p:nvPr/>
        </p:nvSpPr>
        <p:spPr>
          <a:xfrm>
            <a:off x="4297680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4846320" y="10058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EF2F2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看到</a:t>
            </a: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5029200" y="1508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 2MB 标记为 hot！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5074920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39512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404104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68696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33288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97880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62472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227064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391656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556248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720840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885432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050024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14616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79208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543800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708392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872984" y="1920240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74920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239512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404104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568696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733288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97880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62472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27064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391656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556248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0840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85432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050024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214616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79208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543800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08392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872984" y="2130552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74920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9512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404104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68696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733288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897880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062472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27064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391656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556248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720840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85432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050024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14616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79208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543800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708392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872984" y="2340864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074920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39512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04104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568696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33288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062472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227064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391656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56248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20840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85432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050024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14616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379208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543800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08392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872984" y="2551176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074920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239512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404104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568696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733288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897880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62472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227064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391656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56248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720840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85432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050024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214616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379208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543800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708392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72984" y="2761488"/>
            <a:ext cx="155448" cy="182880"/>
          </a:xfrm>
          <a:prstGeom prst="rect">
            <a:avLst/>
          </a:prstGeom>
          <a:solidFill>
            <a:srgbClr val="EF4444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029200" y="38404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 级 AF：1 个 bit 覆盖 2MB</a:t>
            </a:r>
            <a:endParaRPr lang="en-US" sz="1400" dirty="0"/>
          </a:p>
        </p:txBody>
      </p:sp>
      <p:sp>
        <p:nvSpPr>
          <p:cNvPr id="193" name="Text 19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根本原因：ptep_test_and_clear_young() 不刷 TLB  ·  x86 和 ARM64 均受影响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SPE 生产数据验证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926080" cy="27432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3716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743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 2MB THP 只有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 子页被访问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409763449"/>
              </p:ext>
            </p:extLst>
          </p:nvPr>
        </p:nvGraphicFramePr>
        <p:xfrm>
          <a:off x="3474720" y="9144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数据来源：深信服 Kunpeng 920 物理机，KVM + Oracle DB，ARM SPE 采样分析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结论：大量 2MB THP 中只有极少子页热，冷热不均 → 内存浪费严重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解决方案：v2 内核补丁（5 个 Patch）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0F9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33856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33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0607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target_order 字段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damos 新增 target_order，指定 mTHP 目标 order；sysfs 暴露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29384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9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8562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damon_collapse_folio_range()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67128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khugepaged 导出 mTHP collapse 能力供 DAMON 调用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0F9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24912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651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DAMOS_COLLAPSE handler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6265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damos_va_collapse()：对目标区域 folio 执行 collapse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4472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DAMOS_SPLIT action（新增）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758184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枚举新增 DAMOS_SPLIT，sysfs action 名: "split"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187952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0F9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315968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15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24281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DAMOS_SPLIT handler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553712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damos_va_split()：对目标 folio 执行 split_folio_to_order()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v1→v2 变化（SJ 审核）：DAMOS_SPLIT 命名统一 · 删除 hot_threshold（策略放用户态）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架构设计：内核机制 + 用户态策略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用户态（决策层）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1645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record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028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554480"/>
            <a:ext cx="1645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spe_hist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热度分析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6052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554480"/>
            <a:ext cx="1645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pfn_to_va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PA→VA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8076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554480"/>
            <a:ext cx="1645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sysfs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filter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稀疏 THP 的 VA 范围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内核（执行层）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8321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监控  →  address filter 命中  →  DAMOS_SPLIT / DAMOS_COLLAPSE  →  split_folio_to_order()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设计原则：内核提供机制，用户态做策略  ·  与 perf/BPF 模式一致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SPE vs DAMON AF：精度对比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0116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23160" y="1005840"/>
            <a:ext cx="301752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02412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(AF)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01752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02412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60934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62763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页表 Accessed Bit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60934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62763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流水线物理地址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31136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2212848"/>
            <a:ext cx="3017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231136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 (2MB)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2212848"/>
            <a:ext cx="3017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231136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缓存行 (64B)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81635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34640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影响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23160" y="2816352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83464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有（T1 盲点）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816352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83464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无（绕过 TLB）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419856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38144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放大问题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23160" y="3419856"/>
            <a:ext cx="3017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43814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有（T2 inflate）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3419856"/>
            <a:ext cx="3017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43814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无（独立计数）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4164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架构支持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423160" y="402336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04164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所有架构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402336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04164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ARMv8.2+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SPE 直接从 CPU 流水线采样物理地址，完全绕开 TLB 和页表，精度高出数个数量级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测试验证（smaps 路径）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24128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0240" y="1005840"/>
            <a:ext cx="1645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024128"/>
            <a:ext cx="1554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sz_tried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005840"/>
            <a:ext cx="20116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024128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sz_applied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12801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2412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 THP 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005840"/>
            <a:ext cx="1554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02412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146304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81328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20240" y="1463040"/>
            <a:ext cx="16459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481328"/>
            <a:ext cx="1554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1463040"/>
            <a:ext cx="201168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481328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463040"/>
            <a:ext cx="128016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48132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1463040"/>
            <a:ext cx="155448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48132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1965960"/>
            <a:ext cx="14630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984248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1965960"/>
            <a:ext cx="1645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1984248"/>
            <a:ext cx="1554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~4.4 GB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1965960"/>
            <a:ext cx="2011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984248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0720" y="1965960"/>
            <a:ext cx="12801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9842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32320" y="1965960"/>
            <a:ext cx="15544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198424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468880"/>
            <a:ext cx="146304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487168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920240" y="2468880"/>
            <a:ext cx="16459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2487168"/>
            <a:ext cx="1554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GB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0" y="2468880"/>
            <a:ext cx="201168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2487168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MB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60720" y="2468880"/>
            <a:ext cx="128016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48716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0" y="2468880"/>
            <a:ext cx="155448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248716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1089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验证平台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aarch64 VM (无 SPE，smaps 路径)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Kunpeng 920 物理机（smaps 路径验证通过，SPE 路径调试中）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测试负载：hot_workload 32MB  ·  sz_tried &gt;&gt; sz_applied 说明 address filter 有效过滤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未来方向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468880" cy="3017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 v2 到 linux-mm/damon 邮件列表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 review → v3 迭代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 路径 sz_tried=0 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4241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468880" cy="3017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 ARM + 华为推动 SPE→DAMON 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6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 x86 PEBS 类似能力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原生子 PMD 粒度采样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4241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1554480"/>
            <a:ext cx="2651760" cy="3017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 成为 Linux 内存管理的「标准传感器」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硬件数据源可替换（SPE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/IBS/PEBS）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内核机制不变，用户态策略自由组合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社区伙伴：SJ (DAMON 维护者) · ARM · 华为 Asier · 深信服 Sangfor · 笑傲内核社区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三个关键信息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两个已知局限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7589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TLB 盲点 + T2 PMD 粒度放大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架构无关，所有 THP 场景受影响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补丁提供 mTHP 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7589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内核执行 / 用户态决策 / SPE 可选加速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Damos_COLLAPSE + DAMOS_SPLIT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社区联合推动是关键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7589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+ 华为 + 社区共建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让「用户态分析 + 内核执行」架构进入上游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欢迎交流  ·  lianux.mm@gmail.com  ·  笑傲内核开源社区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846</Words>
  <Application>Microsoft Office PowerPoint</Application>
  <PresentationFormat>全屏显示(16:9)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DAMON in Production</dc:title>
  <dc:subject>PptxGenJS Presentation</dc:subject>
  <dc:creator>PptxGenJS</dc:creator>
  <cp:lastModifiedBy>kunwu chan</cp:lastModifiedBy>
  <cp:revision>20</cp:revision>
  <dcterms:created xsi:type="dcterms:W3CDTF">2026-06-30T07:10:41Z</dcterms:created>
  <dcterms:modified xsi:type="dcterms:W3CDTF">2026-06-30T07:40:10Z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1033-12.1.25205.25205</vt:lpwstr>
  </property>
  <property fmtid="{D5CDD505-2E9C-101B-9397-08002B2CF9AE}" pid="3" name="ICV">
    <vt:lpwstr>903240C85AEFE4B5F16B436A569391CF_43</vt:lpwstr>
  </property>
</Properties>
</file>