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4" r:id="rId12"/>
    <p:sldId id="275" r:id="rId13"/>
    <p:sldId id="265" r:id="rId14"/>
    <p:sldId id="273" r:id="rId15"/>
    <p:sldId id="266" r:id="rId16"/>
    <p:sldId id="267" r:id="rId17"/>
    <p:sldId id="272" r:id="rId18"/>
    <p:sldId id="268" r:id="rId19"/>
    <p:sldId id="269" r:id="rId20"/>
    <p:sldId id="276" r:id="rId21"/>
  </p:sldIdLst>
  <p:sldSz cx="12192000" cy="6858000"/>
  <p:notesSz cx="6858000" cy="9144000"/>
  <p:defaultTextStyle>
    <a:defPPr>
      <a:defRPr lang="en-US">
        <a:latin typeface="宋体"/>
        <a:ea typeface="宋体"/>
        <a:cs typeface="宋体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宋体"/>
        <a:ea typeface="宋体"/>
        <a:cs typeface="宋体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32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1">
                <a:latin typeface="Georgia"/>
              </a:defRPr>
            </a:pPr>
            <a:r>
              <a:rPr lang="zh-CN" altLang="en-US"/>
              <a:t>推理时间 </a:t>
            </a:r>
            <a:r>
              <a:rPr lang="en-US" altLang="zh-CN"/>
              <a:t>(</a:t>
            </a:r>
            <a:r>
              <a:rPr lang="en-US"/>
              <a:t>run time)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Linux run (ms)</c:v>
                </c:pt>
              </c:strCache>
            </c:strRef>
          </c:tx>
          <c:spPr>
            <a:solidFill>
              <a:srgbClr val="1A5C8A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relu_480x640 ★</c:v>
                </c:pt>
                <c:pt idx="1">
                  <c:v>relu_640x640</c:v>
                </c:pt>
                <c:pt idx="2">
                  <c:v>silu_480x640</c:v>
                </c:pt>
                <c:pt idx="3">
                  <c:v>silu_640x640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5.3</c:v>
                </c:pt>
                <c:pt idx="1">
                  <c:v>8.1999999999999993</c:v>
                </c:pt>
                <c:pt idx="2">
                  <c:v>13.5</c:v>
                </c:pt>
                <c:pt idx="3">
                  <c:v>16.3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EFA-4242-BCD2-AD5DC1E894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StarryOS run p50 (ms)</c:v>
                </c:pt>
              </c:strCache>
            </c:strRef>
          </c:tx>
          <c:spPr>
            <a:solidFill>
              <a:srgbClr val="2E7D6B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relu_480x640 ★</c:v>
                </c:pt>
                <c:pt idx="1">
                  <c:v>relu_640x640</c:v>
                </c:pt>
                <c:pt idx="2">
                  <c:v>silu_480x640</c:v>
                </c:pt>
                <c:pt idx="3">
                  <c:v>silu_640x640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5.9</c:v>
                </c:pt>
                <c:pt idx="1">
                  <c:v>7.1</c:v>
                </c:pt>
                <c:pt idx="2">
                  <c:v>13.3</c:v>
                </c:pt>
                <c:pt idx="3">
                  <c:v>16.8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EFA-4242-BCD2-AD5DC1E894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Georgi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000"/>
                </a:pPr>
                <a:r>
                  <a:rPr lang="en-US"/>
                  <a:t>ms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Georgi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latin typeface="Georgia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/>
          <a:p>
            <a:r>
              <a:rPr lang="en-US">
                <a:latin typeface="宋体"/>
                <a:ea typeface="宋体"/>
                <a:cs typeface="宋体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9pPr>
          </a:lstStyle>
          <a:p>
            <a:r>
              <a:rPr lang="en-US">
                <a:latin typeface="宋体"/>
                <a:ea typeface="宋体"/>
                <a:cs typeface="宋体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>
                <a:latin typeface="宋体"/>
                <a:ea typeface="宋体"/>
                <a:cs typeface="宋体"/>
              </a:rPr>
              <a:t>7/5/2026</a:t>
            </a:fld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>
                <a:latin typeface="宋体"/>
                <a:ea typeface="宋体"/>
                <a:cs typeface="宋体"/>
              </a:rPr>
              <a:t>‹#›</a:t>
            </a:fld>
            <a:endParaRPr lang="en-US"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宋体"/>
                <a:ea typeface="宋体"/>
                <a:cs typeface="宋体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  <a:p>
            <a:pPr lvl="1"/>
            <a:r>
              <a:rPr lang="en-US">
                <a:latin typeface="宋体"/>
                <a:ea typeface="宋体"/>
                <a:cs typeface="宋体"/>
              </a:rPr>
              <a:t>Second level</a:t>
            </a:r>
          </a:p>
          <a:p>
            <a:pPr lvl="2"/>
            <a:r>
              <a:rPr lang="en-US">
                <a:latin typeface="宋体"/>
                <a:ea typeface="宋体"/>
                <a:cs typeface="宋体"/>
              </a:rPr>
              <a:t>Third level</a:t>
            </a:r>
          </a:p>
          <a:p>
            <a:pPr lvl="3"/>
            <a:r>
              <a:rPr lang="en-US">
                <a:latin typeface="宋体"/>
                <a:ea typeface="宋体"/>
                <a:cs typeface="宋体"/>
              </a:rPr>
              <a:t>Fourth level</a:t>
            </a:r>
          </a:p>
          <a:p>
            <a:pPr lvl="4"/>
            <a:r>
              <a:rPr lang="en-US">
                <a:latin typeface="宋体"/>
                <a:ea typeface="宋体"/>
                <a:cs typeface="宋体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>
                <a:latin typeface="宋体"/>
                <a:ea typeface="宋体"/>
                <a:cs typeface="宋体"/>
              </a:rPr>
              <a:t>7/5/2026</a:t>
            </a:fld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>
                <a:latin typeface="宋体"/>
                <a:ea typeface="宋体"/>
                <a:cs typeface="宋体"/>
              </a:rPr>
              <a:t>‹#›</a:t>
            </a:fld>
            <a:endParaRPr lang="en-US"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Autofit/>
          </a:bodyPr>
          <a:lstStyle>
            <a:lvl1pPr algn="l">
              <a:defRPr sz="6000" b="1" cap="all">
                <a:latin typeface="宋体"/>
                <a:ea typeface="宋体"/>
                <a:cs typeface="宋体"/>
              </a:defRPr>
            </a:lvl1pPr>
          </a:lstStyle>
          <a:p>
            <a:r>
              <a:rPr lang="en-US">
                <a:latin typeface="宋体"/>
                <a:ea typeface="宋体"/>
                <a:cs typeface="宋体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Autofit/>
          </a:bodyPr>
          <a:lstStyle>
            <a:lvl1pPr marL="0" indent="0">
              <a:buNone/>
              <a:defRPr sz="3000"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1pPr>
            <a:lvl2pPr marL="457200" indent="0">
              <a:buNone/>
              <a:defRPr sz="2700"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2pPr>
            <a:lvl3pPr marL="91440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3pPr>
            <a:lvl4pPr marL="1371600" indent="0">
              <a:buNone/>
              <a:defRPr sz="2100"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4pPr>
            <a:lvl5pPr marL="1828800" indent="0">
              <a:buNone/>
              <a:defRPr sz="2100"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5pPr>
            <a:lvl6pPr marL="2286000" indent="0">
              <a:buNone/>
              <a:defRPr sz="2100"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6pPr>
            <a:lvl7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7pPr>
            <a:lvl8pPr marL="3200400" indent="0">
              <a:buNone/>
              <a:defRPr sz="2100"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8pPr>
            <a:lvl9pPr marL="3657600" indent="0">
              <a:buNone/>
              <a:defRPr sz="2100"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9pPr>
          </a:lstStyle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>
                <a:latin typeface="宋体"/>
                <a:ea typeface="宋体"/>
                <a:cs typeface="宋体"/>
              </a:rPr>
              <a:t>7/5/2026</a:t>
            </a:fld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>
                <a:latin typeface="宋体"/>
                <a:ea typeface="宋体"/>
                <a:cs typeface="宋体"/>
              </a:rPr>
              <a:t>‹#›</a:t>
            </a:fld>
            <a:endParaRPr lang="en-US"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宋体"/>
                <a:ea typeface="宋体"/>
                <a:cs typeface="宋体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Autofit/>
          </a:bodyPr>
          <a:lstStyle>
            <a:lvl1pPr>
              <a:defRPr sz="4200">
                <a:latin typeface="宋体"/>
                <a:ea typeface="宋体"/>
                <a:cs typeface="宋体"/>
              </a:defRPr>
            </a:lvl1pPr>
            <a:lvl2pPr>
              <a:defRPr sz="3600">
                <a:latin typeface="宋体"/>
                <a:ea typeface="宋体"/>
                <a:cs typeface="宋体"/>
              </a:defRPr>
            </a:lvl2pPr>
            <a:lvl3pPr>
              <a:defRPr sz="3000">
                <a:latin typeface="宋体"/>
                <a:ea typeface="宋体"/>
                <a:cs typeface="宋体"/>
              </a:defRPr>
            </a:lvl3pPr>
            <a:lvl4pPr>
              <a:defRPr sz="2700">
                <a:latin typeface="宋体"/>
                <a:ea typeface="宋体"/>
                <a:cs typeface="宋体"/>
              </a:defRPr>
            </a:lvl4pPr>
            <a:lvl5pPr>
              <a:defRPr sz="2700">
                <a:latin typeface="宋体"/>
                <a:ea typeface="宋体"/>
                <a:cs typeface="宋体"/>
              </a:defRPr>
            </a:lvl5pPr>
            <a:lvl6pPr>
              <a:defRPr sz="2700">
                <a:latin typeface="宋体"/>
                <a:ea typeface="宋体"/>
                <a:cs typeface="宋体"/>
              </a:defRPr>
            </a:lvl6pPr>
            <a:lvl7pPr>
              <a:defRPr sz="2700">
                <a:latin typeface="宋体"/>
                <a:ea typeface="宋体"/>
                <a:cs typeface="宋体"/>
              </a:defRPr>
            </a:lvl7pPr>
            <a:lvl8pPr>
              <a:defRPr sz="2700">
                <a:latin typeface="宋体"/>
                <a:ea typeface="宋体"/>
                <a:cs typeface="宋体"/>
              </a:defRPr>
            </a:lvl8pPr>
            <a:lvl9pPr>
              <a:defRPr sz="2700">
                <a:latin typeface="宋体"/>
                <a:ea typeface="宋体"/>
                <a:cs typeface="宋体"/>
              </a:defRPr>
            </a:lvl9pPr>
          </a:lstStyle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  <a:p>
            <a:pPr lvl="1"/>
            <a:r>
              <a:rPr lang="en-US">
                <a:latin typeface="宋体"/>
                <a:ea typeface="宋体"/>
                <a:cs typeface="宋体"/>
              </a:rPr>
              <a:t>Second level</a:t>
            </a:r>
          </a:p>
          <a:p>
            <a:pPr lvl="2"/>
            <a:r>
              <a:rPr lang="en-US">
                <a:latin typeface="宋体"/>
                <a:ea typeface="宋体"/>
                <a:cs typeface="宋体"/>
              </a:rPr>
              <a:t>Third level</a:t>
            </a:r>
          </a:p>
          <a:p>
            <a:pPr lvl="3"/>
            <a:r>
              <a:rPr lang="en-US">
                <a:latin typeface="宋体"/>
                <a:ea typeface="宋体"/>
                <a:cs typeface="宋体"/>
              </a:rPr>
              <a:t>Fourth level</a:t>
            </a:r>
          </a:p>
          <a:p>
            <a:pPr lvl="4"/>
            <a:r>
              <a:rPr lang="en-US">
                <a:latin typeface="宋体"/>
                <a:ea typeface="宋体"/>
                <a:cs typeface="宋体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Autofit/>
          </a:bodyPr>
          <a:lstStyle>
            <a:lvl1pPr>
              <a:defRPr sz="4200">
                <a:latin typeface="宋体"/>
                <a:ea typeface="宋体"/>
                <a:cs typeface="宋体"/>
              </a:defRPr>
            </a:lvl1pPr>
            <a:lvl2pPr>
              <a:defRPr sz="3600">
                <a:latin typeface="宋体"/>
                <a:ea typeface="宋体"/>
                <a:cs typeface="宋体"/>
              </a:defRPr>
            </a:lvl2pPr>
            <a:lvl3pPr>
              <a:defRPr sz="3000">
                <a:latin typeface="宋体"/>
                <a:ea typeface="宋体"/>
                <a:cs typeface="宋体"/>
              </a:defRPr>
            </a:lvl3pPr>
            <a:lvl4pPr>
              <a:defRPr sz="2700">
                <a:latin typeface="宋体"/>
                <a:ea typeface="宋体"/>
                <a:cs typeface="宋体"/>
              </a:defRPr>
            </a:lvl4pPr>
            <a:lvl5pPr>
              <a:defRPr sz="2700">
                <a:latin typeface="宋体"/>
                <a:ea typeface="宋体"/>
                <a:cs typeface="宋体"/>
              </a:defRPr>
            </a:lvl5pPr>
            <a:lvl6pPr>
              <a:defRPr sz="2700">
                <a:latin typeface="宋体"/>
                <a:ea typeface="宋体"/>
                <a:cs typeface="宋体"/>
              </a:defRPr>
            </a:lvl6pPr>
            <a:lvl7pPr>
              <a:defRPr sz="2700">
                <a:latin typeface="宋体"/>
                <a:ea typeface="宋体"/>
                <a:cs typeface="宋体"/>
              </a:defRPr>
            </a:lvl7pPr>
            <a:lvl8pPr>
              <a:defRPr sz="2700">
                <a:latin typeface="宋体"/>
                <a:ea typeface="宋体"/>
                <a:cs typeface="宋体"/>
              </a:defRPr>
            </a:lvl8pPr>
            <a:lvl9pPr>
              <a:defRPr sz="2700">
                <a:latin typeface="宋体"/>
                <a:ea typeface="宋体"/>
                <a:cs typeface="宋体"/>
              </a:defRPr>
            </a:lvl9pPr>
          </a:lstStyle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  <a:p>
            <a:pPr lvl="1"/>
            <a:r>
              <a:rPr lang="en-US">
                <a:latin typeface="宋体"/>
                <a:ea typeface="宋体"/>
                <a:cs typeface="宋体"/>
              </a:rPr>
              <a:t>Second level</a:t>
            </a:r>
          </a:p>
          <a:p>
            <a:pPr lvl="2"/>
            <a:r>
              <a:rPr lang="en-US">
                <a:latin typeface="宋体"/>
                <a:ea typeface="宋体"/>
                <a:cs typeface="宋体"/>
              </a:rPr>
              <a:t>Third level</a:t>
            </a:r>
          </a:p>
          <a:p>
            <a:pPr lvl="3"/>
            <a:r>
              <a:rPr lang="en-US">
                <a:latin typeface="宋体"/>
                <a:ea typeface="宋体"/>
                <a:cs typeface="宋体"/>
              </a:rPr>
              <a:t>Fourth level</a:t>
            </a:r>
          </a:p>
          <a:p>
            <a:pPr lvl="4"/>
            <a:r>
              <a:rPr lang="en-US">
                <a:latin typeface="宋体"/>
                <a:ea typeface="宋体"/>
                <a:cs typeface="宋体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>
                <a:latin typeface="宋体"/>
                <a:ea typeface="宋体"/>
                <a:cs typeface="宋体"/>
              </a:rPr>
              <a:t>7/5/2026</a:t>
            </a:fld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>
                <a:latin typeface="宋体"/>
                <a:ea typeface="宋体"/>
                <a:cs typeface="宋体"/>
              </a:rPr>
              <a:t>‹#›</a:t>
            </a:fld>
            <a:endParaRPr lang="en-US"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latin typeface="宋体"/>
                <a:ea typeface="宋体"/>
                <a:cs typeface="宋体"/>
              </a:defRPr>
            </a:lvl1pPr>
          </a:lstStyle>
          <a:p>
            <a:r>
              <a:rPr lang="en-US">
                <a:latin typeface="宋体"/>
                <a:ea typeface="宋体"/>
                <a:cs typeface="宋体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3600" b="1">
                <a:latin typeface="宋体"/>
                <a:ea typeface="宋体"/>
                <a:cs typeface="宋体"/>
              </a:defRPr>
            </a:lvl1pPr>
            <a:lvl2pPr marL="457200" indent="0">
              <a:buNone/>
              <a:defRPr sz="3000" b="1">
                <a:latin typeface="宋体"/>
                <a:ea typeface="宋体"/>
                <a:cs typeface="宋体"/>
              </a:defRPr>
            </a:lvl2pPr>
            <a:lvl3pPr marL="914400" indent="0">
              <a:buNone/>
              <a:defRPr sz="2700" b="1">
                <a:latin typeface="宋体"/>
                <a:ea typeface="宋体"/>
                <a:cs typeface="宋体"/>
              </a:defRPr>
            </a:lvl3pPr>
            <a:lvl4pPr marL="1371600" indent="0">
              <a:buNone/>
              <a:defRPr sz="2400" b="1">
                <a:latin typeface="宋体"/>
                <a:ea typeface="宋体"/>
                <a:cs typeface="宋体"/>
              </a:defRPr>
            </a:lvl4pPr>
            <a:lvl5pPr marL="1828800" indent="0">
              <a:buNone/>
              <a:defRPr sz="2400" b="1">
                <a:latin typeface="宋体"/>
                <a:ea typeface="宋体"/>
                <a:cs typeface="宋体"/>
              </a:defRPr>
            </a:lvl5pPr>
            <a:lvl6pPr marL="2286000" indent="0">
              <a:buNone/>
              <a:defRPr sz="2400" b="1">
                <a:latin typeface="宋体"/>
                <a:ea typeface="宋体"/>
                <a:cs typeface="宋体"/>
              </a:defRPr>
            </a:lvl6pPr>
            <a:lvl7pPr marL="2743200" indent="0">
              <a:buNone/>
              <a:defRPr sz="2400" b="1">
                <a:latin typeface="宋体"/>
                <a:ea typeface="宋体"/>
                <a:cs typeface="宋体"/>
              </a:defRPr>
            </a:lvl7pPr>
            <a:lvl8pPr marL="3200400" indent="0">
              <a:buNone/>
              <a:defRPr sz="2400" b="1">
                <a:latin typeface="宋体"/>
                <a:ea typeface="宋体"/>
                <a:cs typeface="宋体"/>
              </a:defRPr>
            </a:lvl8pPr>
            <a:lvl9pPr marL="3657600" indent="0">
              <a:buNone/>
              <a:defRPr sz="2400" b="1">
                <a:latin typeface="宋体"/>
                <a:ea typeface="宋体"/>
                <a:cs typeface="宋体"/>
              </a:defRPr>
            </a:lvl9pPr>
          </a:lstStyle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Autofit/>
          </a:bodyPr>
          <a:lstStyle>
            <a:lvl1pPr>
              <a:defRPr sz="3600">
                <a:latin typeface="宋体"/>
                <a:ea typeface="宋体"/>
                <a:cs typeface="宋体"/>
              </a:defRPr>
            </a:lvl1pPr>
            <a:lvl2pPr>
              <a:defRPr sz="3000">
                <a:latin typeface="宋体"/>
                <a:ea typeface="宋体"/>
                <a:cs typeface="宋体"/>
              </a:defRPr>
            </a:lvl2pPr>
            <a:lvl3pPr>
              <a:defRPr sz="2700">
                <a:latin typeface="宋体"/>
                <a:ea typeface="宋体"/>
                <a:cs typeface="宋体"/>
              </a:defRPr>
            </a:lvl3pPr>
            <a:lvl4pPr>
              <a:defRPr sz="2400">
                <a:latin typeface="宋体"/>
                <a:ea typeface="宋体"/>
                <a:cs typeface="宋体"/>
              </a:defRPr>
            </a:lvl4pPr>
            <a:lvl5pPr>
              <a:defRPr sz="2400">
                <a:latin typeface="宋体"/>
                <a:ea typeface="宋体"/>
                <a:cs typeface="宋体"/>
              </a:defRPr>
            </a:lvl5pPr>
            <a:lvl6pPr>
              <a:defRPr sz="2400">
                <a:latin typeface="宋体"/>
                <a:ea typeface="宋体"/>
                <a:cs typeface="宋体"/>
              </a:defRPr>
            </a:lvl6pPr>
            <a:lvl7pPr>
              <a:defRPr sz="2400">
                <a:latin typeface="宋体"/>
                <a:ea typeface="宋体"/>
                <a:cs typeface="宋体"/>
              </a:defRPr>
            </a:lvl7pPr>
            <a:lvl8pPr>
              <a:defRPr sz="2400">
                <a:latin typeface="宋体"/>
                <a:ea typeface="宋体"/>
                <a:cs typeface="宋体"/>
              </a:defRPr>
            </a:lvl8pPr>
            <a:lvl9pPr>
              <a:defRPr sz="2400">
                <a:latin typeface="宋体"/>
                <a:ea typeface="宋体"/>
                <a:cs typeface="宋体"/>
              </a:defRPr>
            </a:lvl9pPr>
          </a:lstStyle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  <a:p>
            <a:pPr lvl="1"/>
            <a:r>
              <a:rPr lang="en-US">
                <a:latin typeface="宋体"/>
                <a:ea typeface="宋体"/>
                <a:cs typeface="宋体"/>
              </a:rPr>
              <a:t>Second level</a:t>
            </a:r>
          </a:p>
          <a:p>
            <a:pPr lvl="2"/>
            <a:r>
              <a:rPr lang="en-US">
                <a:latin typeface="宋体"/>
                <a:ea typeface="宋体"/>
                <a:cs typeface="宋体"/>
              </a:rPr>
              <a:t>Third level</a:t>
            </a:r>
          </a:p>
          <a:p>
            <a:pPr lvl="3"/>
            <a:r>
              <a:rPr lang="en-US">
                <a:latin typeface="宋体"/>
                <a:ea typeface="宋体"/>
                <a:cs typeface="宋体"/>
              </a:rPr>
              <a:t>Fourth level</a:t>
            </a:r>
          </a:p>
          <a:p>
            <a:pPr lvl="4"/>
            <a:r>
              <a:rPr lang="en-US">
                <a:latin typeface="宋体"/>
                <a:ea typeface="宋体"/>
                <a:cs typeface="宋体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3600" b="1">
                <a:latin typeface="宋体"/>
                <a:ea typeface="宋体"/>
                <a:cs typeface="宋体"/>
              </a:defRPr>
            </a:lvl1pPr>
            <a:lvl2pPr marL="457200" indent="0">
              <a:buNone/>
              <a:defRPr sz="3000" b="1">
                <a:latin typeface="宋体"/>
                <a:ea typeface="宋体"/>
                <a:cs typeface="宋体"/>
              </a:defRPr>
            </a:lvl2pPr>
            <a:lvl3pPr marL="914400" indent="0">
              <a:buNone/>
              <a:defRPr sz="2700" b="1">
                <a:latin typeface="宋体"/>
                <a:ea typeface="宋体"/>
                <a:cs typeface="宋体"/>
              </a:defRPr>
            </a:lvl3pPr>
            <a:lvl4pPr marL="1371600" indent="0">
              <a:buNone/>
              <a:defRPr sz="2400" b="1">
                <a:latin typeface="宋体"/>
                <a:ea typeface="宋体"/>
                <a:cs typeface="宋体"/>
              </a:defRPr>
            </a:lvl4pPr>
            <a:lvl5pPr marL="1828800" indent="0">
              <a:buNone/>
              <a:defRPr sz="2400" b="1">
                <a:latin typeface="宋体"/>
                <a:ea typeface="宋体"/>
                <a:cs typeface="宋体"/>
              </a:defRPr>
            </a:lvl5pPr>
            <a:lvl6pPr marL="2286000" indent="0">
              <a:buNone/>
              <a:defRPr sz="2400" b="1">
                <a:latin typeface="宋体"/>
                <a:ea typeface="宋体"/>
                <a:cs typeface="宋体"/>
              </a:defRPr>
            </a:lvl6pPr>
            <a:lvl7pPr marL="2743200" indent="0">
              <a:buNone/>
              <a:defRPr sz="2400" b="1">
                <a:latin typeface="宋体"/>
                <a:ea typeface="宋体"/>
                <a:cs typeface="宋体"/>
              </a:defRPr>
            </a:lvl7pPr>
            <a:lvl8pPr marL="3200400" indent="0">
              <a:buNone/>
              <a:defRPr sz="2400" b="1">
                <a:latin typeface="宋体"/>
                <a:ea typeface="宋体"/>
                <a:cs typeface="宋体"/>
              </a:defRPr>
            </a:lvl8pPr>
            <a:lvl9pPr marL="3657600" indent="0">
              <a:buNone/>
              <a:defRPr sz="2400" b="1">
                <a:latin typeface="宋体"/>
                <a:ea typeface="宋体"/>
                <a:cs typeface="宋体"/>
              </a:defRPr>
            </a:lvl9pPr>
          </a:lstStyle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Autofit/>
          </a:bodyPr>
          <a:lstStyle>
            <a:lvl1pPr>
              <a:defRPr sz="3600">
                <a:latin typeface="宋体"/>
                <a:ea typeface="宋体"/>
                <a:cs typeface="宋体"/>
              </a:defRPr>
            </a:lvl1pPr>
            <a:lvl2pPr>
              <a:defRPr sz="3000">
                <a:latin typeface="宋体"/>
                <a:ea typeface="宋体"/>
                <a:cs typeface="宋体"/>
              </a:defRPr>
            </a:lvl2pPr>
            <a:lvl3pPr>
              <a:defRPr sz="2700">
                <a:latin typeface="宋体"/>
                <a:ea typeface="宋体"/>
                <a:cs typeface="宋体"/>
              </a:defRPr>
            </a:lvl3pPr>
            <a:lvl4pPr>
              <a:defRPr sz="2400">
                <a:latin typeface="宋体"/>
                <a:ea typeface="宋体"/>
                <a:cs typeface="宋体"/>
              </a:defRPr>
            </a:lvl4pPr>
            <a:lvl5pPr>
              <a:defRPr sz="2400">
                <a:latin typeface="宋体"/>
                <a:ea typeface="宋体"/>
                <a:cs typeface="宋体"/>
              </a:defRPr>
            </a:lvl5pPr>
            <a:lvl6pPr>
              <a:defRPr sz="2400">
                <a:latin typeface="宋体"/>
                <a:ea typeface="宋体"/>
                <a:cs typeface="宋体"/>
              </a:defRPr>
            </a:lvl6pPr>
            <a:lvl7pPr>
              <a:defRPr sz="2400">
                <a:latin typeface="宋体"/>
                <a:ea typeface="宋体"/>
                <a:cs typeface="宋体"/>
              </a:defRPr>
            </a:lvl7pPr>
            <a:lvl8pPr>
              <a:defRPr sz="2400">
                <a:latin typeface="宋体"/>
                <a:ea typeface="宋体"/>
                <a:cs typeface="宋体"/>
              </a:defRPr>
            </a:lvl8pPr>
            <a:lvl9pPr>
              <a:defRPr sz="2400">
                <a:latin typeface="宋体"/>
                <a:ea typeface="宋体"/>
                <a:cs typeface="宋体"/>
              </a:defRPr>
            </a:lvl9pPr>
          </a:lstStyle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  <a:p>
            <a:pPr lvl="1"/>
            <a:r>
              <a:rPr lang="en-US">
                <a:latin typeface="宋体"/>
                <a:ea typeface="宋体"/>
                <a:cs typeface="宋体"/>
              </a:rPr>
              <a:t>Second level</a:t>
            </a:r>
          </a:p>
          <a:p>
            <a:pPr lvl="2"/>
            <a:r>
              <a:rPr lang="en-US">
                <a:latin typeface="宋体"/>
                <a:ea typeface="宋体"/>
                <a:cs typeface="宋体"/>
              </a:rPr>
              <a:t>Third level</a:t>
            </a:r>
          </a:p>
          <a:p>
            <a:pPr lvl="3"/>
            <a:r>
              <a:rPr lang="en-US">
                <a:latin typeface="宋体"/>
                <a:ea typeface="宋体"/>
                <a:cs typeface="宋体"/>
              </a:rPr>
              <a:t>Fourth level</a:t>
            </a:r>
          </a:p>
          <a:p>
            <a:pPr lvl="4"/>
            <a:r>
              <a:rPr lang="en-US">
                <a:latin typeface="宋体"/>
                <a:ea typeface="宋体"/>
                <a:cs typeface="宋体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>
                <a:latin typeface="宋体"/>
                <a:ea typeface="宋体"/>
                <a:cs typeface="宋体"/>
              </a:rPr>
              <a:t>7/5/2026</a:t>
            </a:fld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>
                <a:latin typeface="宋体"/>
                <a:ea typeface="宋体"/>
                <a:cs typeface="宋体"/>
              </a:rPr>
              <a:t>‹#›</a:t>
            </a:fld>
            <a:endParaRPr lang="en-US"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宋体"/>
                <a:ea typeface="宋体"/>
                <a:cs typeface="宋体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>
                <a:latin typeface="宋体"/>
                <a:ea typeface="宋体"/>
                <a:cs typeface="宋体"/>
              </a:rPr>
              <a:t>7/5/2026</a:t>
            </a:fld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>
                <a:latin typeface="宋体"/>
                <a:ea typeface="宋体"/>
                <a:cs typeface="宋体"/>
              </a:rPr>
              <a:t>‹#›</a:t>
            </a:fld>
            <a:endParaRPr lang="en-US"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>
                <a:latin typeface="宋体"/>
                <a:ea typeface="宋体"/>
                <a:cs typeface="宋体"/>
              </a:rPr>
              <a:t>7/5/2026</a:t>
            </a:fld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>
                <a:latin typeface="宋体"/>
                <a:ea typeface="宋体"/>
                <a:cs typeface="宋体"/>
              </a:rPr>
              <a:t>‹#›</a:t>
            </a:fld>
            <a:endParaRPr lang="en-US"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Autofit/>
          </a:bodyPr>
          <a:lstStyle>
            <a:lvl1pPr algn="l">
              <a:defRPr sz="3000" b="1">
                <a:latin typeface="宋体"/>
                <a:ea typeface="宋体"/>
                <a:cs typeface="宋体"/>
              </a:defRPr>
            </a:lvl1pPr>
          </a:lstStyle>
          <a:p>
            <a:r>
              <a:rPr lang="en-US">
                <a:latin typeface="宋体"/>
                <a:ea typeface="宋体"/>
                <a:cs typeface="宋体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Autofit/>
          </a:bodyPr>
          <a:lstStyle>
            <a:lvl1pPr>
              <a:defRPr sz="4800">
                <a:latin typeface="宋体"/>
                <a:ea typeface="宋体"/>
                <a:cs typeface="宋体"/>
              </a:defRPr>
            </a:lvl1pPr>
            <a:lvl2pPr>
              <a:defRPr sz="4200">
                <a:latin typeface="宋体"/>
                <a:ea typeface="宋体"/>
                <a:cs typeface="宋体"/>
              </a:defRPr>
            </a:lvl2pPr>
            <a:lvl3pPr>
              <a:defRPr sz="3600">
                <a:latin typeface="宋体"/>
                <a:ea typeface="宋体"/>
                <a:cs typeface="宋体"/>
              </a:defRPr>
            </a:lvl3pPr>
            <a:lvl4pPr>
              <a:defRPr sz="3000">
                <a:latin typeface="宋体"/>
                <a:ea typeface="宋体"/>
                <a:cs typeface="宋体"/>
              </a:defRPr>
            </a:lvl4pPr>
            <a:lvl5pPr>
              <a:defRPr sz="3000">
                <a:latin typeface="宋体"/>
                <a:ea typeface="宋体"/>
                <a:cs typeface="宋体"/>
              </a:defRPr>
            </a:lvl5pPr>
            <a:lvl6pPr>
              <a:defRPr sz="3000">
                <a:latin typeface="宋体"/>
                <a:ea typeface="宋体"/>
                <a:cs typeface="宋体"/>
              </a:defRPr>
            </a:lvl6pPr>
            <a:lvl7pPr>
              <a:defRPr sz="3000">
                <a:latin typeface="宋体"/>
                <a:ea typeface="宋体"/>
                <a:cs typeface="宋体"/>
              </a:defRPr>
            </a:lvl7pPr>
            <a:lvl8pPr>
              <a:defRPr sz="3000">
                <a:latin typeface="宋体"/>
                <a:ea typeface="宋体"/>
                <a:cs typeface="宋体"/>
              </a:defRPr>
            </a:lvl8pPr>
            <a:lvl9pPr>
              <a:defRPr sz="3000">
                <a:latin typeface="宋体"/>
                <a:ea typeface="宋体"/>
                <a:cs typeface="宋体"/>
              </a:defRPr>
            </a:lvl9pPr>
          </a:lstStyle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  <a:p>
            <a:pPr lvl="1"/>
            <a:r>
              <a:rPr lang="en-US">
                <a:latin typeface="宋体"/>
                <a:ea typeface="宋体"/>
                <a:cs typeface="宋体"/>
              </a:rPr>
              <a:t>Second level</a:t>
            </a:r>
          </a:p>
          <a:p>
            <a:pPr lvl="2"/>
            <a:r>
              <a:rPr lang="en-US">
                <a:latin typeface="宋体"/>
                <a:ea typeface="宋体"/>
                <a:cs typeface="宋体"/>
              </a:rPr>
              <a:t>Third level</a:t>
            </a:r>
          </a:p>
          <a:p>
            <a:pPr lvl="3"/>
            <a:r>
              <a:rPr lang="en-US">
                <a:latin typeface="宋体"/>
                <a:ea typeface="宋体"/>
                <a:cs typeface="宋体"/>
              </a:rPr>
              <a:t>Fourth level</a:t>
            </a:r>
          </a:p>
          <a:p>
            <a:pPr lvl="4"/>
            <a:r>
              <a:rPr lang="en-US">
                <a:latin typeface="宋体"/>
                <a:ea typeface="宋体"/>
                <a:cs typeface="宋体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Autofit/>
          </a:bodyPr>
          <a:lstStyle>
            <a:lvl1pPr marL="0" indent="0">
              <a:buNone/>
              <a:defRPr sz="2100">
                <a:latin typeface="宋体"/>
                <a:ea typeface="宋体"/>
                <a:cs typeface="宋体"/>
              </a:defRPr>
            </a:lvl1pPr>
            <a:lvl2pPr marL="457200" indent="0">
              <a:buNone/>
              <a:defRPr sz="1800">
                <a:latin typeface="宋体"/>
                <a:ea typeface="宋体"/>
                <a:cs typeface="宋体"/>
              </a:defRPr>
            </a:lvl2pPr>
            <a:lvl3pPr marL="914400" indent="0">
              <a:buNone/>
              <a:defRPr sz="1500">
                <a:latin typeface="宋体"/>
                <a:ea typeface="宋体"/>
                <a:cs typeface="宋体"/>
              </a:defRPr>
            </a:lvl3pPr>
            <a:lvl4pPr marL="1371600" indent="0">
              <a:buNone/>
              <a:defRPr sz="1350">
                <a:latin typeface="宋体"/>
                <a:ea typeface="宋体"/>
                <a:cs typeface="宋体"/>
              </a:defRPr>
            </a:lvl4pPr>
            <a:lvl5pPr marL="1828800" indent="0">
              <a:buNone/>
              <a:defRPr sz="1350">
                <a:latin typeface="宋体"/>
                <a:ea typeface="宋体"/>
                <a:cs typeface="宋体"/>
              </a:defRPr>
            </a:lvl5pPr>
            <a:lvl6pPr marL="2286000" indent="0">
              <a:buNone/>
              <a:defRPr sz="1350">
                <a:latin typeface="宋体"/>
                <a:ea typeface="宋体"/>
                <a:cs typeface="宋体"/>
              </a:defRPr>
            </a:lvl6pPr>
            <a:lvl7pPr marL="2743200" indent="0">
              <a:buNone/>
              <a:defRPr sz="1350">
                <a:latin typeface="宋体"/>
                <a:ea typeface="宋体"/>
                <a:cs typeface="宋体"/>
              </a:defRPr>
            </a:lvl7pPr>
            <a:lvl8pPr marL="3200400" indent="0">
              <a:buNone/>
              <a:defRPr sz="1350">
                <a:latin typeface="宋体"/>
                <a:ea typeface="宋体"/>
                <a:cs typeface="宋体"/>
              </a:defRPr>
            </a:lvl8pPr>
            <a:lvl9pPr marL="3657600" indent="0">
              <a:buNone/>
              <a:defRPr sz="1350">
                <a:latin typeface="宋体"/>
                <a:ea typeface="宋体"/>
                <a:cs typeface="宋体"/>
              </a:defRPr>
            </a:lvl9pPr>
          </a:lstStyle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>
                <a:latin typeface="宋体"/>
                <a:ea typeface="宋体"/>
                <a:cs typeface="宋体"/>
              </a:rPr>
              <a:t>7/5/2026</a:t>
            </a:fld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>
                <a:latin typeface="宋体"/>
                <a:ea typeface="宋体"/>
                <a:cs typeface="宋体"/>
              </a:rPr>
              <a:t>‹#›</a:t>
            </a:fld>
            <a:endParaRPr lang="en-US"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Autofit/>
          </a:bodyPr>
          <a:lstStyle>
            <a:lvl1pPr algn="l">
              <a:defRPr sz="3000" b="1">
                <a:latin typeface="宋体"/>
                <a:ea typeface="宋体"/>
                <a:cs typeface="宋体"/>
              </a:defRPr>
            </a:lvl1pPr>
          </a:lstStyle>
          <a:p>
            <a:r>
              <a:rPr lang="en-US">
                <a:latin typeface="宋体"/>
                <a:ea typeface="宋体"/>
                <a:cs typeface="宋体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Autofit/>
          </a:bodyPr>
          <a:lstStyle>
            <a:lvl1pPr marL="0" indent="0">
              <a:buNone/>
              <a:defRPr sz="4800">
                <a:latin typeface="宋体"/>
                <a:ea typeface="宋体"/>
                <a:cs typeface="宋体"/>
              </a:defRPr>
            </a:lvl1pPr>
            <a:lvl2pPr marL="457200" indent="0">
              <a:buNone/>
              <a:defRPr sz="4200">
                <a:latin typeface="宋体"/>
                <a:ea typeface="宋体"/>
                <a:cs typeface="宋体"/>
              </a:defRPr>
            </a:lvl2pPr>
            <a:lvl3pPr marL="914400" indent="0">
              <a:buNone/>
              <a:defRPr sz="3600">
                <a:latin typeface="宋体"/>
                <a:ea typeface="宋体"/>
                <a:cs typeface="宋体"/>
              </a:defRPr>
            </a:lvl3pPr>
            <a:lvl4pPr marL="1371600" indent="0">
              <a:buNone/>
              <a:defRPr sz="3000">
                <a:latin typeface="宋体"/>
                <a:ea typeface="宋体"/>
                <a:cs typeface="宋体"/>
              </a:defRPr>
            </a:lvl4pPr>
            <a:lvl5pPr marL="1828800" indent="0">
              <a:buNone/>
              <a:defRPr sz="3000">
                <a:latin typeface="宋体"/>
                <a:ea typeface="宋体"/>
                <a:cs typeface="宋体"/>
              </a:defRPr>
            </a:lvl5pPr>
            <a:lvl6pPr marL="2286000" indent="0">
              <a:buNone/>
              <a:defRPr sz="3000">
                <a:latin typeface="宋体"/>
                <a:ea typeface="宋体"/>
                <a:cs typeface="宋体"/>
              </a:defRPr>
            </a:lvl6pPr>
            <a:lvl7pPr marL="2743200" indent="0">
              <a:buNone/>
              <a:defRPr sz="3000">
                <a:latin typeface="宋体"/>
                <a:ea typeface="宋体"/>
                <a:cs typeface="宋体"/>
              </a:defRPr>
            </a:lvl7pPr>
            <a:lvl8pPr marL="3200400" indent="0">
              <a:buNone/>
              <a:defRPr sz="3000">
                <a:latin typeface="宋体"/>
                <a:ea typeface="宋体"/>
                <a:cs typeface="宋体"/>
              </a:defRPr>
            </a:lvl8pPr>
            <a:lvl9pPr marL="3657600" indent="0">
              <a:buNone/>
              <a:defRPr sz="3000">
                <a:latin typeface="宋体"/>
                <a:ea typeface="宋体"/>
                <a:cs typeface="宋体"/>
              </a:defRPr>
            </a:lvl9pPr>
          </a:lstStyle>
          <a:p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Autofit/>
          </a:bodyPr>
          <a:lstStyle>
            <a:lvl1pPr marL="0" indent="0">
              <a:buNone/>
              <a:defRPr sz="2100">
                <a:latin typeface="宋体"/>
                <a:ea typeface="宋体"/>
                <a:cs typeface="宋体"/>
              </a:defRPr>
            </a:lvl1pPr>
            <a:lvl2pPr marL="457200" indent="0">
              <a:buNone/>
              <a:defRPr sz="1800">
                <a:latin typeface="宋体"/>
                <a:ea typeface="宋体"/>
                <a:cs typeface="宋体"/>
              </a:defRPr>
            </a:lvl2pPr>
            <a:lvl3pPr marL="914400" indent="0">
              <a:buNone/>
              <a:defRPr sz="1500">
                <a:latin typeface="宋体"/>
                <a:ea typeface="宋体"/>
                <a:cs typeface="宋体"/>
              </a:defRPr>
            </a:lvl3pPr>
            <a:lvl4pPr marL="1371600" indent="0">
              <a:buNone/>
              <a:defRPr sz="1350">
                <a:latin typeface="宋体"/>
                <a:ea typeface="宋体"/>
                <a:cs typeface="宋体"/>
              </a:defRPr>
            </a:lvl4pPr>
            <a:lvl5pPr marL="1828800" indent="0">
              <a:buNone/>
              <a:defRPr sz="1350">
                <a:latin typeface="宋体"/>
                <a:ea typeface="宋体"/>
                <a:cs typeface="宋体"/>
              </a:defRPr>
            </a:lvl5pPr>
            <a:lvl6pPr marL="2286000" indent="0">
              <a:buNone/>
              <a:defRPr sz="1350">
                <a:latin typeface="宋体"/>
                <a:ea typeface="宋体"/>
                <a:cs typeface="宋体"/>
              </a:defRPr>
            </a:lvl6pPr>
            <a:lvl7pPr marL="2743200" indent="0">
              <a:buNone/>
              <a:defRPr sz="1350">
                <a:latin typeface="宋体"/>
                <a:ea typeface="宋体"/>
                <a:cs typeface="宋体"/>
              </a:defRPr>
            </a:lvl7pPr>
            <a:lvl8pPr marL="3200400" indent="0">
              <a:buNone/>
              <a:defRPr sz="1350">
                <a:latin typeface="宋体"/>
                <a:ea typeface="宋体"/>
                <a:cs typeface="宋体"/>
              </a:defRPr>
            </a:lvl8pPr>
            <a:lvl9pPr marL="3657600" indent="0">
              <a:buNone/>
              <a:defRPr sz="1350">
                <a:latin typeface="宋体"/>
                <a:ea typeface="宋体"/>
                <a:cs typeface="宋体"/>
              </a:defRPr>
            </a:lvl9pPr>
          </a:lstStyle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>
                <a:latin typeface="宋体"/>
                <a:ea typeface="宋体"/>
                <a:cs typeface="宋体"/>
              </a:rPr>
              <a:t>7/5/2026</a:t>
            </a:fld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>
                <a:latin typeface="宋体"/>
                <a:ea typeface="宋体"/>
                <a:cs typeface="宋体"/>
              </a:rPr>
              <a:t>‹#›</a:t>
            </a:fld>
            <a:endParaRPr lang="en-US"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宋体"/>
                <a:ea typeface="宋体"/>
                <a:cs typeface="宋体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Autofit/>
          </a:bodyPr>
          <a:lstStyle/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  <a:p>
            <a:pPr lvl="1"/>
            <a:r>
              <a:rPr lang="en-US">
                <a:latin typeface="宋体"/>
                <a:ea typeface="宋体"/>
                <a:cs typeface="宋体"/>
              </a:rPr>
              <a:t>Second level</a:t>
            </a:r>
          </a:p>
          <a:p>
            <a:pPr lvl="2"/>
            <a:r>
              <a:rPr lang="en-US">
                <a:latin typeface="宋体"/>
                <a:ea typeface="宋体"/>
                <a:cs typeface="宋体"/>
              </a:rPr>
              <a:t>Third level</a:t>
            </a:r>
          </a:p>
          <a:p>
            <a:pPr lvl="3"/>
            <a:r>
              <a:rPr lang="en-US">
                <a:latin typeface="宋体"/>
                <a:ea typeface="宋体"/>
                <a:cs typeface="宋体"/>
              </a:rPr>
              <a:t>Fourth level</a:t>
            </a:r>
          </a:p>
          <a:p>
            <a:pPr lvl="4"/>
            <a:r>
              <a:rPr lang="en-US">
                <a:latin typeface="宋体"/>
                <a:ea typeface="宋体"/>
                <a:cs typeface="宋体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>
                <a:latin typeface="宋体"/>
                <a:ea typeface="宋体"/>
                <a:cs typeface="宋体"/>
              </a:rPr>
              <a:t>7/5/2026</a:t>
            </a:fld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>
                <a:latin typeface="宋体"/>
                <a:ea typeface="宋体"/>
                <a:cs typeface="宋体"/>
              </a:rPr>
              <a:t>‹#›</a:t>
            </a:fld>
            <a:endParaRPr lang="en-US"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Autofit/>
          </a:bodyPr>
          <a:lstStyle/>
          <a:p>
            <a:r>
              <a:rPr lang="en-US">
                <a:latin typeface="宋体"/>
                <a:ea typeface="宋体"/>
                <a:cs typeface="宋体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Autofit/>
          </a:bodyPr>
          <a:lstStyle/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  <a:p>
            <a:pPr lvl="1"/>
            <a:r>
              <a:rPr lang="en-US">
                <a:latin typeface="宋体"/>
                <a:ea typeface="宋体"/>
                <a:cs typeface="宋体"/>
              </a:rPr>
              <a:t>Second level</a:t>
            </a:r>
          </a:p>
          <a:p>
            <a:pPr lvl="2"/>
            <a:r>
              <a:rPr lang="en-US">
                <a:latin typeface="宋体"/>
                <a:ea typeface="宋体"/>
                <a:cs typeface="宋体"/>
              </a:rPr>
              <a:t>Third level</a:t>
            </a:r>
          </a:p>
          <a:p>
            <a:pPr lvl="3"/>
            <a:r>
              <a:rPr lang="en-US">
                <a:latin typeface="宋体"/>
                <a:ea typeface="宋体"/>
                <a:cs typeface="宋体"/>
              </a:rPr>
              <a:t>Fourth level</a:t>
            </a:r>
          </a:p>
          <a:p>
            <a:pPr lvl="4"/>
            <a:r>
              <a:rPr lang="en-US">
                <a:latin typeface="宋体"/>
                <a:ea typeface="宋体"/>
                <a:cs typeface="宋体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>
                <a:latin typeface="宋体"/>
                <a:ea typeface="宋体"/>
                <a:cs typeface="宋体"/>
              </a:rPr>
              <a:t>7/5/2026</a:t>
            </a:fld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>
                <a:latin typeface="宋体"/>
                <a:ea typeface="宋体"/>
                <a:cs typeface="宋体"/>
              </a:rPr>
              <a:t>‹#›</a:t>
            </a:fld>
            <a:endParaRPr lang="en-US"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>
                <a:latin typeface="宋体"/>
                <a:ea typeface="宋体"/>
                <a:cs typeface="宋体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>
                <a:latin typeface="宋体"/>
                <a:ea typeface="宋体"/>
                <a:cs typeface="宋体"/>
              </a:rPr>
              <a:t>Click to edit Master text styles</a:t>
            </a:r>
          </a:p>
          <a:p>
            <a:pPr lvl="1"/>
            <a:r>
              <a:rPr lang="en-US">
                <a:latin typeface="宋体"/>
                <a:ea typeface="宋体"/>
                <a:cs typeface="宋体"/>
              </a:rPr>
              <a:t>Second level</a:t>
            </a:r>
          </a:p>
          <a:p>
            <a:pPr lvl="2"/>
            <a:r>
              <a:rPr lang="en-US">
                <a:latin typeface="宋体"/>
                <a:ea typeface="宋体"/>
                <a:cs typeface="宋体"/>
              </a:rPr>
              <a:t>Third level</a:t>
            </a:r>
          </a:p>
          <a:p>
            <a:pPr lvl="3"/>
            <a:r>
              <a:rPr lang="en-US">
                <a:latin typeface="宋体"/>
                <a:ea typeface="宋体"/>
                <a:cs typeface="宋体"/>
              </a:rPr>
              <a:t>Fourth level</a:t>
            </a:r>
          </a:p>
          <a:p>
            <a:pPr lvl="4"/>
            <a:r>
              <a:rPr lang="en-US">
                <a:latin typeface="宋体"/>
                <a:ea typeface="宋体"/>
                <a:cs typeface="宋体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1pPr>
          </a:lstStyle>
          <a:p>
            <a:fld id="{5BCAD085-E8A6-8845-BD4E-CB4CCA059FC4}" type="datetimeFigureOut">
              <a:rPr lang="en-US" smtClean="0">
                <a:latin typeface="宋体"/>
                <a:ea typeface="宋体"/>
                <a:cs typeface="宋体"/>
              </a:rPr>
              <a:t>7/5/2026</a:t>
            </a:fld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1pPr>
          </a:lstStyle>
          <a:p>
            <a:endParaRPr lang="en-US">
              <a:latin typeface="宋体"/>
              <a:ea typeface="宋体"/>
              <a:cs typeface="宋体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宋体"/>
                <a:ea typeface="宋体"/>
                <a:cs typeface="宋体"/>
              </a:defRPr>
            </a:lvl1pPr>
          </a:lstStyle>
          <a:p>
            <a:fld id="{C1FF6DA9-008F-8B48-92A6-B652298478BF}" type="slidenum">
              <a:rPr lang="en-US" smtClean="0">
                <a:latin typeface="宋体"/>
                <a:ea typeface="宋体"/>
                <a:cs typeface="宋体"/>
              </a:rPr>
              <a:t>‹#›</a:t>
            </a:fld>
            <a:endParaRPr lang="en-US"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宋体"/>
          <a:ea typeface="宋体"/>
          <a:cs typeface="宋体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宋体"/>
          <a:ea typeface="宋体"/>
          <a:cs typeface="宋体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宋体"/>
          <a:ea typeface="宋体"/>
          <a:cs typeface="宋体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宋体"/>
          <a:ea typeface="宋体"/>
          <a:cs typeface="宋体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宋体"/>
          <a:ea typeface="宋体"/>
          <a:cs typeface="宋体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宋体"/>
          <a:ea typeface="宋体"/>
          <a:cs typeface="宋体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宋体"/>
          <a:ea typeface="宋体"/>
          <a:cs typeface="宋体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宋体"/>
          <a:ea typeface="宋体"/>
          <a:cs typeface="宋体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宋体"/>
          <a:ea typeface="宋体"/>
          <a:cs typeface="宋体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宋体"/>
          <a:ea typeface="宋体"/>
          <a:cs typeface="宋体"/>
        </a:defRPr>
      </a:lvl9pPr>
    </p:bodyStyle>
    <p:otherStyle>
      <a:defPPr>
        <a:defRPr lang="en-US">
          <a:latin typeface="宋体"/>
          <a:ea typeface="宋体"/>
          <a:cs typeface="宋体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宋体"/>
          <a:ea typeface="宋体"/>
          <a:cs typeface="宋体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宋体"/>
          <a:ea typeface="宋体"/>
          <a:cs typeface="宋体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宋体"/>
          <a:ea typeface="宋体"/>
          <a:cs typeface="宋体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宋体"/>
          <a:ea typeface="宋体"/>
          <a:cs typeface="宋体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宋体"/>
          <a:ea typeface="宋体"/>
          <a:cs typeface="宋体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宋体"/>
          <a:ea typeface="宋体"/>
          <a:cs typeface="宋体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宋体"/>
          <a:ea typeface="宋体"/>
          <a:cs typeface="宋体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宋体"/>
          <a:ea typeface="宋体"/>
          <a:cs typeface="宋体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宋体"/>
          <a:ea typeface="宋体"/>
          <a:cs typeface="宋体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l">
              <a:defRPr sz="5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面向具身智能的</a:t>
            </a:r>
            <a:r>
              <a:rPr dirty="0"/>
              <a:t> OS </a:t>
            </a:r>
            <a:r>
              <a:rPr dirty="0" err="1"/>
              <a:t>初步探索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18288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2400" dirty="0">
                <a:latin typeface="Georgia" panose="02040502050405020303" pitchFamily="18" charset="0"/>
              </a:rPr>
              <a:t>Rust-based Agentic OS for Robots — Initial Exploration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3657600" cy="54864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l">
              <a:defRPr sz="38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Georgia" panose="02040502050405020303" pitchFamily="18" charset="0"/>
              </a:rP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1097280" cy="914400"/>
          </a:xfrm>
          <a:prstGeom prst="rect">
            <a:avLst/>
          </a:prstGeom>
          <a:solidFill>
            <a:srgbClr val="F0EEE8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Georgia" panose="02040502050405020303" pitchFamily="18" charset="0"/>
              </a:rPr>
              <a:t>Part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问题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77440" y="1920240"/>
            <a:ext cx="365760" cy="1905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26080" y="16916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为什么 Linux 不是完整的机器人 OS？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697480"/>
            <a:ext cx="1097280" cy="914400"/>
          </a:xfrm>
          <a:prstGeom prst="rect">
            <a:avLst/>
          </a:prstGeom>
          <a:solidFill>
            <a:srgbClr val="F0EEE8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Part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探索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154680"/>
            <a:ext cx="365760" cy="1905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6080" y="29260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Rust · ArceOS · AI 驱动的开发范式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931920"/>
            <a:ext cx="1097280" cy="914400"/>
          </a:xfrm>
          <a:prstGeom prst="rect">
            <a:avLst/>
          </a:prstGeom>
          <a:solidFill>
            <a:srgbClr val="F0EEE8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20" y="3977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Part III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97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实践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4389120"/>
            <a:ext cx="365760" cy="1905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26080" y="41605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辰龙 OS 架构 · 边缘智能 · 闭环控制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66360"/>
            <a:ext cx="1097280" cy="914400"/>
          </a:xfrm>
          <a:prstGeom prst="rect">
            <a:avLst/>
          </a:prstGeom>
          <a:solidFill>
            <a:srgbClr val="F0EEE8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88720" y="5212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Part IV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5321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展望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5623560"/>
            <a:ext cx="365760" cy="1905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926080" y="53949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下一步方向与开放问题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宋体"/>
                <a:ea typeface="宋体"/>
                <a:cs typeface="宋体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5" y="2173316"/>
            <a:ext cx="12191695" cy="2598189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41670" y="229587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 sz="2400" dirty="0">
                <a:latin typeface="Georgia" panose="02040502050405020303" pitchFamily="18" charset="0"/>
              </a:rPr>
              <a:t>Part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585" y="2441171"/>
            <a:ext cx="9515302" cy="129540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>
              <a:defRPr sz="48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sz="4000" dirty="0" err="1">
                <a:latin typeface="Georgia" panose="02040502050405020303" pitchFamily="18" charset="0"/>
              </a:rPr>
              <a:t>问题：为什么机器人需要自己的</a:t>
            </a:r>
            <a:r>
              <a:rPr sz="4000" dirty="0">
                <a:latin typeface="Georgia" panose="02040502050405020303" pitchFamily="18" charset="0"/>
              </a:rPr>
              <a:t> OS？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585" y="3589600"/>
            <a:ext cx="13716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91796" y="3736571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Georgia" panose="02040502050405020303" pitchFamily="18" charset="0"/>
              </a:rPr>
              <a:t>Linux 很适合作为通用承载层；但它只解决"</a:t>
            </a:r>
            <a:r>
              <a:rPr dirty="0" err="1">
                <a:latin typeface="Georgia" panose="02040502050405020303" pitchFamily="18" charset="0"/>
              </a:rPr>
              <a:t>运行程序</a:t>
            </a:r>
            <a:r>
              <a:rPr dirty="0">
                <a:latin typeface="Georgia" panose="02040502050405020303" pitchFamily="18" charset="0"/>
              </a:rPr>
              <a:t>"，</a:t>
            </a:r>
            <a:r>
              <a:rPr dirty="0" err="1">
                <a:latin typeface="Georgia" panose="02040502050405020303" pitchFamily="18" charset="0"/>
              </a:rPr>
              <a:t>不解决"安全地完成具身任务</a:t>
            </a:r>
            <a:r>
              <a:rPr dirty="0">
                <a:latin typeface="Georgia" panose="02040502050405020303" pitchFamily="18" charset="0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640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Georgia" panose="02040502050405020303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机器人 OS 的 7 个关键缺口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2560320" cy="219456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51560" y="1508760"/>
            <a:ext cx="365760" cy="3657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08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硬实时控制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1560" y="2011680"/>
            <a:ext cx="22860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228600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最坏情况可证明的确定性时延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371600"/>
            <a:ext cx="2560320" cy="219456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40480" y="1508760"/>
            <a:ext cx="365760" cy="3657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508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安全治理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011680"/>
            <a:ext cx="22860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40480" y="2194560"/>
            <a:ext cx="228600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混合关键性隔离与运行时拦截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371600"/>
            <a:ext cx="2560320" cy="219456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629400" y="1508760"/>
            <a:ext cx="365760" cy="3657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508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时序一致性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2011680"/>
            <a:ext cx="22860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29400" y="2194560"/>
            <a:ext cx="228600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数据新鲜度与传感器同步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1371600"/>
            <a:ext cx="2560320" cy="219456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418320" y="1508760"/>
            <a:ext cx="365760" cy="3657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1508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技能抽象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2011680"/>
            <a:ext cx="22860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18320" y="2194560"/>
            <a:ext cx="228600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能力作为 OS 级对象管理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931920"/>
            <a:ext cx="2560320" cy="219456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51560" y="4069080"/>
            <a:ext cx="365760" cy="3657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069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任务闭环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" y="4572000"/>
            <a:ext cx="22860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1560" y="4754880"/>
            <a:ext cx="228600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异常检测、失败恢复与重规划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3931920"/>
            <a:ext cx="2560320" cy="219456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840480" y="4069080"/>
            <a:ext cx="365760" cy="3657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069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世界模型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4572000"/>
            <a:ext cx="22860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840480" y="4754880"/>
            <a:ext cx="228600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时空记忆与语义地图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931920"/>
            <a:ext cx="2560320" cy="219456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629400" y="4069080"/>
            <a:ext cx="365760" cy="3657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069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多机协同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4572000"/>
            <a:ext cx="22860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29400" y="4754880"/>
            <a:ext cx="228600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分布式任务调度与状态共享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8288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21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 sz="2400" dirty="0">
                <a:latin typeface="Georgia" panose="02040502050405020303" pitchFamily="18" charset="0"/>
              </a:rPr>
              <a:t>Part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14400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48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sz="4000" dirty="0" err="1">
                <a:latin typeface="Georgia" panose="02040502050405020303" pitchFamily="18" charset="0"/>
              </a:rPr>
              <a:t>探索：Rust</a:t>
            </a:r>
            <a:r>
              <a:rPr sz="4000" dirty="0">
                <a:latin typeface="Georgia" panose="02040502050405020303" pitchFamily="18" charset="0"/>
              </a:rPr>
              <a:t> + </a:t>
            </a:r>
            <a:r>
              <a:rPr sz="4000" dirty="0" err="1">
                <a:latin typeface="Georgia" panose="02040502050405020303" pitchFamily="18" charset="0"/>
              </a:rPr>
              <a:t>ArceOS</a:t>
            </a:r>
            <a:r>
              <a:rPr sz="4000" dirty="0">
                <a:latin typeface="Georgia" panose="02040502050405020303" pitchFamily="18" charset="0"/>
              </a:rPr>
              <a:t> +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1371600" cy="2540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1440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24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语言选择 · 内核设计 · AI 加速开发范式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为什么是</a:t>
            </a:r>
            <a:r>
              <a:rPr dirty="0">
                <a:latin typeface="Georgia" panose="02040502050405020303" pitchFamily="18" charset="0"/>
              </a:rPr>
              <a:t> Rust？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语言特性与机器人</a:t>
            </a:r>
            <a:r>
              <a:rPr dirty="0">
                <a:latin typeface="Georgia" panose="02040502050405020303" pitchFamily="18" charset="0"/>
              </a:rPr>
              <a:t> OS </a:t>
            </a:r>
            <a:r>
              <a:rPr dirty="0" err="1">
                <a:latin typeface="Georgia" panose="02040502050405020303" pitchFamily="18" charset="0"/>
              </a:rPr>
              <a:t>的匹配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7280" y="1920240"/>
            <a:ext cx="50800" cy="8229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所有权系统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226771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 err="1"/>
              <a:t>编译期杜绝数据竞争与悬垂指针，适合安全关键系统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1097280" y="2971800"/>
            <a:ext cx="50800" cy="8229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零成本抽象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192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 err="1"/>
              <a:t>性能媲美</a:t>
            </a:r>
            <a:r>
              <a:rPr dirty="0"/>
              <a:t> C/C++，</a:t>
            </a:r>
            <a:r>
              <a:rPr dirty="0" err="1"/>
              <a:t>适合底层实时控制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1097280" y="4023360"/>
            <a:ext cx="50800" cy="8229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1600" y="40233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强类型反馈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437083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 err="1"/>
              <a:t>编译器错误丰富，AI</a:t>
            </a:r>
            <a:r>
              <a:rPr dirty="0"/>
              <a:t> </a:t>
            </a:r>
            <a:r>
              <a:rPr dirty="0" err="1"/>
              <a:t>更容易进入"生成-验证-修复"闭环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1097280" y="5074920"/>
            <a:ext cx="50800" cy="8229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1600" y="5074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组件化生态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1600" y="542239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Cargo workspace 天然支持模块化 OS 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371600"/>
            <a:ext cx="4937760" cy="47548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0" y="15544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rPr dirty="0" err="1"/>
              <a:t>经验证据</a:t>
            </a:r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6858000" y="1965960"/>
            <a:ext cx="438912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0" y="2286000"/>
            <a:ext cx="4389120" cy="91440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ctr">
              <a:defRPr sz="560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rPr dirty="0"/>
              <a:t>5000×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004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 err="1"/>
              <a:t>内存安全漏洞密度差异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858000" y="384048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0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t>Rust:  0.2 / MLOC</a:t>
            </a:r>
            <a:br/>
            <a:r>
              <a:t>C/C++:  1000 / MLOC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4754880"/>
            <a:ext cx="438912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0" y="4937760"/>
            <a:ext cx="4389120" cy="73152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ctr">
              <a:defRPr sz="19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rPr sz="1600" dirty="0"/>
              <a:t>Android </a:t>
            </a:r>
            <a:r>
              <a:rPr sz="1600" dirty="0" err="1"/>
              <a:t>已有约</a:t>
            </a:r>
            <a:r>
              <a:rPr sz="1600" dirty="0"/>
              <a:t> 500 </a:t>
            </a:r>
            <a:r>
              <a:rPr sz="1600" dirty="0" err="1"/>
              <a:t>万行</a:t>
            </a:r>
            <a:r>
              <a:rPr sz="1600" dirty="0"/>
              <a:t> Rust </a:t>
            </a:r>
            <a:r>
              <a:rPr sz="1600" dirty="0" err="1"/>
              <a:t>代码；安全关键模块中，Rust</a:t>
            </a:r>
            <a:r>
              <a:rPr sz="1600" dirty="0"/>
              <a:t> </a:t>
            </a:r>
            <a:r>
              <a:rPr sz="1600" dirty="0" err="1"/>
              <a:t>采用率持续上升</a:t>
            </a:r>
            <a:r>
              <a:rPr sz="1600" dirty="0"/>
              <a:t>。</a:t>
            </a:r>
            <a:endParaRPr sz="1600" dirty="0">
              <a:latin typeface="宋体"/>
              <a:ea typeface="宋体"/>
              <a:cs typeface="宋体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/>
              <a:t>AI Coding × </a:t>
            </a:r>
            <a:r>
              <a:rPr dirty="0" err="1"/>
              <a:t>Rust：一个正向闭环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828800" cy="731520"/>
          </a:xfrm>
          <a:prstGeom prst="rect">
            <a:avLst/>
          </a:prstGeom>
          <a:solidFill>
            <a:srgbClr val="F5F3EE"/>
          </a:solidFill>
          <a:ln w="1270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Georgia" panose="02040502050405020303" pitchFamily="18" charset="0"/>
              </a:rPr>
              <a:t>AI </a:t>
            </a:r>
            <a:r>
              <a:rPr dirty="0" err="1">
                <a:latin typeface="Georgia" panose="02040502050405020303" pitchFamily="18" charset="0"/>
              </a:rPr>
              <a:t>生成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97480" y="1463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371600"/>
            <a:ext cx="1828800" cy="731520"/>
          </a:xfrm>
          <a:prstGeom prst="rect">
            <a:avLst/>
          </a:prstGeom>
          <a:solidFill>
            <a:srgbClr val="F5F3EE"/>
          </a:solidFill>
          <a:ln w="1270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0" y="141732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编译反馈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371600"/>
            <a:ext cx="1828800" cy="731520"/>
          </a:xfrm>
          <a:prstGeom prst="rect">
            <a:avLst/>
          </a:prstGeom>
          <a:solidFill>
            <a:srgbClr val="F5F3EE"/>
          </a:solidFill>
          <a:ln w="1270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4960" y="141732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自动修正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86600" y="1463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1371600"/>
            <a:ext cx="1828800" cy="731520"/>
          </a:xfrm>
          <a:prstGeom prst="rect">
            <a:avLst/>
          </a:prstGeom>
          <a:solidFill>
            <a:srgbClr val="F5F3EE"/>
          </a:solidFill>
          <a:ln w="1270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9520" y="141732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Fuzz / Clippy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463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371600"/>
            <a:ext cx="1828800" cy="731520"/>
          </a:xfrm>
          <a:prstGeom prst="rect">
            <a:avLst/>
          </a:prstGeom>
          <a:solidFill>
            <a:srgbClr val="F5F3EE"/>
          </a:solidFill>
          <a:ln w="12700"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784080" y="141732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生产化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468880"/>
            <a:ext cx="5303520" cy="365760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8720" y="2651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为什么对 Rust 特别有效？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3063240"/>
            <a:ext cx="475488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8720" y="3200400"/>
            <a:ext cx="4754880" cy="2743200"/>
          </a:xfrm>
          <a:prstGeom prst="rect">
            <a:avLst/>
          </a:prstGeom>
          <a:noFill/>
        </p:spPr>
        <p:txBody>
          <a:bodyPr wrap="square" tIns="45720" bIns="45720">
            <a:no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2300" dirty="0" err="1">
                <a:latin typeface="宋体"/>
                <a:ea typeface="宋体"/>
                <a:cs typeface="宋体"/>
              </a:rPr>
              <a:t>强类型与所有权让问题更早暴露；编译器反馈清晰，便于</a:t>
            </a:r>
            <a:r>
              <a:rPr sz="2300" dirty="0">
                <a:latin typeface="宋体"/>
                <a:ea typeface="宋体"/>
                <a:cs typeface="宋体"/>
              </a:rPr>
              <a:t> AI </a:t>
            </a:r>
            <a:r>
              <a:rPr sz="2300" dirty="0" err="1">
                <a:latin typeface="宋体"/>
                <a:ea typeface="宋体"/>
                <a:cs typeface="宋体"/>
              </a:rPr>
              <a:t>进入生成、验证、修复闭环；Clippy</a:t>
            </a:r>
            <a:r>
              <a:rPr sz="2300" dirty="0">
                <a:latin typeface="宋体"/>
                <a:ea typeface="宋体"/>
                <a:cs typeface="宋体"/>
              </a:rPr>
              <a:t> / Fuzz </a:t>
            </a:r>
            <a:r>
              <a:rPr sz="2300" dirty="0" err="1">
                <a:latin typeface="宋体"/>
                <a:ea typeface="宋体"/>
                <a:cs typeface="宋体"/>
              </a:rPr>
              <a:t>可自动补齐质量保障</a:t>
            </a:r>
            <a:r>
              <a:rPr sz="2300" dirty="0">
                <a:latin typeface="宋体"/>
                <a:ea typeface="宋体"/>
                <a:cs typeface="宋体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468880"/>
            <a:ext cx="4937760" cy="365760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0" y="26517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判断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063240"/>
            <a:ext cx="438912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0" y="3200400"/>
            <a:ext cx="4389120" cy="2743200"/>
          </a:xfrm>
          <a:prstGeom prst="rect">
            <a:avLst/>
          </a:prstGeom>
          <a:noFill/>
        </p:spPr>
        <p:txBody>
          <a:bodyPr wrap="square" tIns="45720" bIns="45720">
            <a:noAutofit/>
          </a:bodyPr>
          <a:lstStyle/>
          <a:p>
            <a:pPr algn="just">
              <a:lnSpc>
                <a:spcPct val="165000"/>
              </a:lnSpc>
              <a:spcAft>
                <a:spcPts val="1000"/>
              </a:spcAft>
              <a:defRPr sz="210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2000" dirty="0">
                <a:solidFill>
                  <a:srgbClr val="555555"/>
                </a:solidFill>
                <a:latin typeface="宋体"/>
                <a:ea typeface="宋体"/>
                <a:cs typeface="宋体"/>
              </a:rPr>
              <a:t>AI coding </a:t>
            </a:r>
            <a:r>
              <a:rPr sz="2000" dirty="0" err="1">
                <a:solidFill>
                  <a:srgbClr val="555555"/>
                </a:solidFill>
                <a:latin typeface="宋体"/>
                <a:ea typeface="宋体"/>
                <a:cs typeface="宋体"/>
              </a:rPr>
              <a:t>短期不会替代</a:t>
            </a:r>
            <a:r>
              <a:rPr sz="2000" dirty="0">
                <a:solidFill>
                  <a:srgbClr val="555555"/>
                </a:solidFill>
                <a:latin typeface="宋体"/>
                <a:ea typeface="宋体"/>
                <a:cs typeface="宋体"/>
              </a:rPr>
              <a:t> C/C++ </a:t>
            </a:r>
            <a:r>
              <a:rPr sz="2000" dirty="0" err="1">
                <a:solidFill>
                  <a:srgbClr val="555555"/>
                </a:solidFill>
                <a:latin typeface="宋体"/>
                <a:ea typeface="宋体"/>
                <a:cs typeface="宋体"/>
              </a:rPr>
              <a:t>存量，但会显著提高</a:t>
            </a:r>
            <a:r>
              <a:rPr sz="2000" dirty="0">
                <a:solidFill>
                  <a:srgbClr val="555555"/>
                </a:solidFill>
                <a:latin typeface="宋体"/>
                <a:ea typeface="宋体"/>
                <a:cs typeface="宋体"/>
              </a:rPr>
              <a:t> Rust </a:t>
            </a:r>
            <a:r>
              <a:rPr sz="2000" dirty="0" err="1">
                <a:solidFill>
                  <a:srgbClr val="555555"/>
                </a:solidFill>
                <a:latin typeface="宋体"/>
                <a:ea typeface="宋体"/>
                <a:cs typeface="宋体"/>
              </a:rPr>
              <a:t>在新一代底层系统中的采用率；安全关键新增模块中，Rust</a:t>
            </a:r>
            <a:r>
              <a:rPr lang="en-US" sz="2000" dirty="0">
                <a:solidFill>
                  <a:srgbClr val="555555"/>
                </a:solidFill>
                <a:latin typeface="宋体"/>
                <a:ea typeface="宋体"/>
                <a:cs typeface="宋体"/>
              </a:rPr>
              <a:t> </a:t>
            </a:r>
            <a:r>
              <a:rPr sz="2000" dirty="0" err="1">
                <a:solidFill>
                  <a:srgbClr val="555555"/>
                </a:solidFill>
                <a:latin typeface="宋体"/>
                <a:ea typeface="宋体"/>
                <a:cs typeface="宋体"/>
              </a:rPr>
              <a:t>已接近或超过</a:t>
            </a:r>
            <a:r>
              <a:rPr sz="2000" dirty="0">
                <a:solidFill>
                  <a:srgbClr val="555555"/>
                </a:solidFill>
                <a:latin typeface="宋体"/>
                <a:ea typeface="宋体"/>
                <a:cs typeface="宋体"/>
              </a:rPr>
              <a:t> C++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我们的探索：AI</a:t>
            </a:r>
            <a:r>
              <a:rPr dirty="0">
                <a:latin typeface="Georgia" panose="02040502050405020303" pitchFamily="18" charset="0"/>
              </a:rPr>
              <a:t> </a:t>
            </a:r>
            <a:r>
              <a:rPr dirty="0" err="1">
                <a:latin typeface="Georgia" panose="02040502050405020303" pitchFamily="18" charset="0"/>
              </a:rPr>
              <a:t>加速底层系统开发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3383280" cy="47548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3383280" cy="50292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13898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AI 加速驱动开发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3017520" cy="3657600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defRPr sz="210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2400" dirty="0">
                <a:latin typeface="宋体"/>
                <a:ea typeface="宋体"/>
                <a:cs typeface="宋体"/>
              </a:rPr>
              <a:t>AI </a:t>
            </a:r>
            <a:r>
              <a:rPr sz="2400" dirty="0" err="1">
                <a:latin typeface="宋体"/>
                <a:ea typeface="宋体"/>
                <a:cs typeface="宋体"/>
              </a:rPr>
              <a:t>辅助生成寄存器操作与中断处理</a:t>
            </a:r>
            <a:endParaRPr sz="2400" dirty="0">
              <a:latin typeface="宋体"/>
              <a:ea typeface="宋体"/>
              <a:cs typeface="宋体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defRPr sz="210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2400" dirty="0">
                <a:latin typeface="宋体"/>
                <a:ea typeface="宋体"/>
                <a:cs typeface="宋体"/>
              </a:rPr>
              <a:t>从 datasheet </a:t>
            </a:r>
            <a:r>
              <a:rPr sz="2400" dirty="0" err="1">
                <a:latin typeface="宋体"/>
                <a:ea typeface="宋体"/>
                <a:cs typeface="宋体"/>
              </a:rPr>
              <a:t>自动提取关键信息</a:t>
            </a:r>
            <a:endParaRPr sz="2400" dirty="0">
              <a:latin typeface="宋体"/>
              <a:ea typeface="宋体"/>
              <a:cs typeface="宋体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defRPr sz="210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2400" dirty="0" err="1">
                <a:latin typeface="宋体"/>
                <a:ea typeface="宋体"/>
                <a:cs typeface="宋体"/>
              </a:rPr>
              <a:t>开发周期从天级缩短到小时级</a:t>
            </a:r>
            <a:endParaRPr sz="2400" dirty="0">
              <a:latin typeface="宋体"/>
              <a:ea typeface="宋体"/>
              <a:cs typeface="宋体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3383280" cy="47548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0" y="1371600"/>
            <a:ext cx="3383280" cy="502920"/>
          </a:xfrm>
          <a:prstGeom prst="rect">
            <a:avLst/>
          </a:prstGeom>
          <a:solidFill>
            <a:srgbClr val="B8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09160" y="13898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AI 逆向二进制分析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03120"/>
            <a:ext cx="3017520" cy="3657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defRPr sz="210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2400" dirty="0" err="1">
                <a:solidFill>
                  <a:srgbClr val="555555"/>
                </a:solidFill>
                <a:latin typeface="宋体"/>
                <a:ea typeface="宋体"/>
                <a:cs typeface="宋体"/>
              </a:rPr>
              <a:t>自动识别函数结构与调用关系</a:t>
            </a:r>
            <a:endParaRPr sz="2400" dirty="0">
              <a:solidFill>
                <a:srgbClr val="555555"/>
              </a:solidFill>
              <a:latin typeface="宋体"/>
              <a:ea typeface="宋体"/>
              <a:cs typeface="宋体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defRPr sz="210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2400" dirty="0" err="1">
                <a:solidFill>
                  <a:srgbClr val="555555"/>
                </a:solidFill>
                <a:latin typeface="宋体"/>
                <a:ea typeface="宋体"/>
                <a:cs typeface="宋体"/>
              </a:rPr>
              <a:t>辅助理解闭源固件与通信协议</a:t>
            </a:r>
            <a:endParaRPr sz="2400" dirty="0">
              <a:solidFill>
                <a:srgbClr val="555555"/>
              </a:solidFill>
              <a:latin typeface="宋体"/>
              <a:ea typeface="宋体"/>
              <a:cs typeface="宋体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defRPr sz="210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2400" dirty="0" err="1">
                <a:solidFill>
                  <a:srgbClr val="555555"/>
                </a:solidFill>
                <a:latin typeface="宋体"/>
                <a:ea typeface="宋体"/>
                <a:cs typeface="宋体"/>
              </a:rPr>
              <a:t>降低逆向工程门槛</a:t>
            </a:r>
            <a:endParaRPr sz="2400" dirty="0">
              <a:solidFill>
                <a:srgbClr val="555555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383280" cy="47548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383280" cy="50292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6760" y="13898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AI 提升整体开发效率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017520" cy="3657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defRPr sz="210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2400" dirty="0" err="1">
                <a:latin typeface="宋体"/>
                <a:ea typeface="宋体"/>
                <a:cs typeface="宋体"/>
              </a:rPr>
              <a:t>代</a:t>
            </a:r>
            <a:r>
              <a:rPr sz="2400" dirty="0" err="1">
                <a:solidFill>
                  <a:srgbClr val="555555"/>
                </a:solidFill>
              </a:rPr>
              <a:t>码审查与</a:t>
            </a:r>
            <a:r>
              <a:rPr sz="2400" dirty="0">
                <a:solidFill>
                  <a:srgbClr val="555555"/>
                </a:solidFill>
              </a:rPr>
              <a:t> Bug </a:t>
            </a:r>
            <a:r>
              <a:rPr sz="2400" dirty="0" err="1">
                <a:solidFill>
                  <a:srgbClr val="555555"/>
                </a:solidFill>
              </a:rPr>
              <a:t>智能定位</a:t>
            </a:r>
            <a:endParaRPr sz="2400" dirty="0">
              <a:solidFill>
                <a:srgbClr val="555555"/>
              </a:solidFill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defRPr sz="210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2400" dirty="0" err="1">
                <a:solidFill>
                  <a:srgbClr val="555555"/>
                </a:solidFill>
              </a:rPr>
              <a:t>审计</a:t>
            </a:r>
            <a:r>
              <a:rPr sz="2400" dirty="0">
                <a:solidFill>
                  <a:srgbClr val="555555"/>
                </a:solidFill>
              </a:rPr>
              <a:t> unsafe </a:t>
            </a:r>
            <a:r>
              <a:rPr sz="2400" dirty="0" err="1">
                <a:solidFill>
                  <a:srgbClr val="555555"/>
                </a:solidFill>
              </a:rPr>
              <a:t>代码块</a:t>
            </a:r>
            <a:endParaRPr sz="2400" dirty="0">
              <a:solidFill>
                <a:srgbClr val="555555"/>
              </a:solidFill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defRPr sz="210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2400" dirty="0" err="1">
                <a:solidFill>
                  <a:srgbClr val="555555"/>
                </a:solidFill>
              </a:rPr>
              <a:t>自动生成测试用例与文档</a:t>
            </a:r>
            <a:endParaRPr sz="2400" dirty="0">
              <a:solidFill>
                <a:srgbClr val="555555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Georgia" panose="02040502050405020303" pitchFamily="18" charset="0"/>
              </a:rPr>
              <a:t>AI × </a:t>
            </a:r>
            <a:r>
              <a:rPr dirty="0" err="1">
                <a:latin typeface="Georgia" panose="02040502050405020303" pitchFamily="18" charset="0"/>
              </a:rPr>
              <a:t>底层系统开发：实际工作流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6217920" cy="47548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典型流程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965960"/>
            <a:ext cx="566928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1.  硬件 datasheet → AI 提取寄存器与协议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2491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2.  AI 生成驱动骨架（Rust / unsafe）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526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3.  编译器 + AI 联合修复所有权问题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8561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4.  AI 逆向分析固件，理解通信协议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1596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5.  自动生成 fuzz 用例与单元测试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46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6.  AI 审查 unsafe 代码块安全性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7667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7.  人工把关最终质量，迭代优化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1371600"/>
            <a:ext cx="4206240" cy="47548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0" y="1554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关键洞察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965960"/>
            <a:ext cx="36576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772400" y="2286000"/>
            <a:ext cx="50800" cy="100584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46720" y="23317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AI 擅长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6517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模式识别、代码生成、文档提取、批量处理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566160"/>
            <a:ext cx="50800" cy="1005840"/>
          </a:xfrm>
          <a:prstGeom prst="rect">
            <a:avLst/>
          </a:prstGeom>
          <a:solidFill>
            <a:srgbClr val="B8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人擅长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93192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 err="1"/>
              <a:t>架构决策、安全判断、最终审核、边界定义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7772400" y="4846320"/>
            <a:ext cx="50800" cy="100584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20" y="4892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最佳实践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21208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/>
              <a:t>AI </a:t>
            </a:r>
            <a:r>
              <a:rPr dirty="0" err="1"/>
              <a:t>做初稿，人做终审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Georgia" panose="02040502050405020303" pitchFamily="18" charset="0"/>
              </a:rPr>
              <a:t>AI </a:t>
            </a:r>
            <a:r>
              <a:rPr dirty="0" err="1">
                <a:latin typeface="Georgia" panose="02040502050405020303" pitchFamily="18" charset="0"/>
              </a:rPr>
              <a:t>驱动的硬件在环开发闭环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2011680"/>
          </a:xfrm>
          <a:prstGeom prst="roundRect">
            <a:avLst/>
          </a:prstGeom>
          <a:solidFill>
            <a:srgbClr val="F5F3EE"/>
          </a:solidFill>
          <a:ln w="2540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 sz="1600" dirty="0">
                <a:latin typeface="Georgia" panose="02040502050405020303" pitchFamily="18" charset="0"/>
              </a:rPr>
              <a:t>AI </a:t>
            </a:r>
            <a:r>
              <a:rPr sz="1600" dirty="0" err="1">
                <a:latin typeface="Georgia" panose="02040502050405020303" pitchFamily="18" charset="0"/>
              </a:rPr>
              <a:t>开发端</a:t>
            </a:r>
            <a:r>
              <a:rPr sz="1600" dirty="0">
                <a:latin typeface="Georgia" panose="02040502050405020303" pitchFamily="18" charset="0"/>
              </a:rPr>
              <a:t>  (Any PC)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3749039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/>
              <a:t>[1] </a:t>
            </a:r>
            <a:r>
              <a:rPr dirty="0" err="1"/>
              <a:t>编写代码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 err="1"/>
              <a:t>分析日志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决策模块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860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C0392B"/>
                </a:solidFill>
                <a:latin typeface="宋体"/>
                <a:ea typeface="宋体"/>
                <a:cs typeface="宋体"/>
              </a:defRPr>
            </a:pPr>
            <a:r>
              <a:t>[9] 失败→重写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06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[9] 成功→停止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463040"/>
            <a:ext cx="4114800" cy="2011680"/>
          </a:xfrm>
          <a:prstGeom prst="roundRect">
            <a:avLst/>
          </a:prstGeom>
          <a:solidFill>
            <a:srgbClr val="F5F3EE"/>
          </a:solidFill>
          <a:ln w="25400"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6480" y="1508760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 sz="1600">
                <a:latin typeface="Georgia" panose="02040502050405020303" pitchFamily="18" charset="0"/>
              </a:rPr>
              <a:t>服务器主机  (TFTP &amp; Serial)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3749039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0" y="196596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TFTP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8600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TFTP File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0604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Serial Listener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4114800" cy="1463040"/>
          </a:xfrm>
          <a:prstGeom prst="roundRect">
            <a:avLst/>
          </a:prstGeom>
          <a:solidFill>
            <a:srgbClr val="F5F3EE"/>
          </a:solidFill>
          <a:ln w="25400">
            <a:solidFill>
              <a:srgbClr val="D4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D48B2A"/>
                </a:solidFill>
                <a:latin typeface="宋体"/>
                <a:ea typeface="宋体"/>
                <a:cs typeface="宋体"/>
              </a:defRPr>
            </a:pPr>
            <a:r>
              <a:rPr sz="1600">
                <a:latin typeface="Georgia" panose="02040502050405020303" pitchFamily="18" charset="0"/>
              </a:rPr>
              <a:t>Mijia Smart Plug (智能插座)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480560"/>
            <a:ext cx="3749039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Power Control (电源控制)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HTTP/HTTPS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114800"/>
            <a:ext cx="4114800" cy="2011680"/>
          </a:xfrm>
          <a:prstGeom prst="roundRect">
            <a:avLst/>
          </a:prstGeom>
          <a:solidFill>
            <a:srgbClr val="F5F3EE"/>
          </a:solidFill>
          <a:ln w="25400"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6480" y="4160520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 sz="1600">
                <a:latin typeface="Georgia" panose="02040502050405020303" pitchFamily="18" charset="0"/>
              </a:rPr>
              <a:t>Development Board (开发板)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480560"/>
            <a:ext cx="3749039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0" y="4617720"/>
            <a:ext cx="3474720" cy="320040"/>
          </a:xfrm>
          <a:prstGeom prst="rect">
            <a:avLst/>
          </a:prstGeom>
          <a:solidFill>
            <a:srgbClr val="F0EEE8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463600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[6] 启动 Booting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029200"/>
            <a:ext cx="3474720" cy="320040"/>
          </a:xfrm>
          <a:prstGeom prst="rect">
            <a:avLst/>
          </a:prstGeom>
          <a:solidFill>
            <a:srgbClr val="F0EEE8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50474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[6] 程序加载 Program Load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440680"/>
            <a:ext cx="3474720" cy="320040"/>
          </a:xfrm>
          <a:prstGeom prst="rect">
            <a:avLst/>
          </a:prstGeom>
          <a:solidFill>
            <a:srgbClr val="F0EEE8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92240" y="54589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[6] 程序执行 Execute Code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846320" y="1920240"/>
            <a:ext cx="1005840" cy="320040"/>
          </a:xfrm>
          <a:prstGeom prst="rightArrow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54880" y="16916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t>[2] TFTP 上传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846320" y="2560320"/>
            <a:ext cx="1005840" cy="32004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54880" y="278892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[8] 返回日志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200400" y="3657600"/>
            <a:ext cx="1005840" cy="274320"/>
          </a:xfrm>
          <a:prstGeom prst="rightArrow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926080" y="35661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[3] API 调用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2560320" y="3520440"/>
            <a:ext cx="274320" cy="548640"/>
          </a:xfrm>
          <a:prstGeom prst="downArrow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40" name="Right Arrow 39"/>
          <p:cNvSpPr/>
          <p:nvPr/>
        </p:nvSpPr>
        <p:spPr>
          <a:xfrm>
            <a:off x="4846320" y="4572000"/>
            <a:ext cx="1005840" cy="320040"/>
          </a:xfrm>
          <a:prstGeom prst="rightArrow">
            <a:avLst/>
          </a:prstGeom>
          <a:solidFill>
            <a:srgbClr val="D4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754880" y="43434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D48B2A"/>
                </a:solidFill>
                <a:latin typeface="宋体"/>
                <a:ea typeface="宋体"/>
                <a:cs typeface="宋体"/>
              </a:defRPr>
            </a:pPr>
            <a:r>
              <a:t>[4] 物理通电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7772400" y="3520440"/>
            <a:ext cx="274320" cy="548640"/>
          </a:xfrm>
          <a:prstGeom prst="downArrow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955279" y="36576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t>[5] TFTP 获取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9601200" y="3520440"/>
            <a:ext cx="274320" cy="548640"/>
          </a:xfrm>
          <a:prstGeom prst="down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692640" y="36576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[7] 串口反馈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14630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t>图例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15600" y="1828800"/>
            <a:ext cx="274320" cy="1828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881360" y="181051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网络/固件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15600" y="2148840"/>
            <a:ext cx="274320" cy="18288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881360" y="213055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API 控制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515600" y="2468880"/>
            <a:ext cx="274320" cy="182880"/>
          </a:xfrm>
          <a:prstGeom prst="rect">
            <a:avLst/>
          </a:prstGeom>
          <a:solidFill>
            <a:srgbClr val="D4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881360" y="245059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物理供电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2788920"/>
            <a:ext cx="274320" cy="18288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881360" y="277063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串口反馈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6309360"/>
            <a:ext cx="10789920" cy="36576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ctr">
              <a:defRPr sz="19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AI 自动完成：代码生成 → 固件上传 → 远程通电 → 启动执行 → 日志分析；失败自动迭代，尽量减少人工干预。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Georgia" panose="02040502050405020303" pitchFamily="18" charset="0"/>
              </a:rPr>
              <a:t>AI </a:t>
            </a:r>
            <a:r>
              <a:rPr dirty="0" err="1">
                <a:latin typeface="Georgia" panose="02040502050405020303" pitchFamily="18" charset="0"/>
              </a:rPr>
              <a:t>逆向成果：RK</a:t>
            </a:r>
            <a:r>
              <a:rPr dirty="0">
                <a:latin typeface="Georgia" panose="02040502050405020303" pitchFamily="18" charset="0"/>
              </a:rPr>
              <a:t> NPU </a:t>
            </a:r>
            <a:r>
              <a:rPr dirty="0" err="1">
                <a:latin typeface="Georgia" panose="02040502050405020303" pitchFamily="18" charset="0"/>
              </a:rPr>
              <a:t>算子测试矩阵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通过 AI 逆向二进制提取的 9 类算子，全部 INT8 量化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1318953" y="1591056"/>
            <a:ext cx="1645920" cy="3657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64673" y="162763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t>测试文件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2964873" y="1591056"/>
            <a:ext cx="2011680" cy="3657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0593" y="1627632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t>测试函数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76553" y="1591056"/>
            <a:ext cx="2011680" cy="3657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2273" y="1627632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t>算子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88233" y="1591056"/>
            <a:ext cx="3200400" cy="3657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3953" y="162763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t>说明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88633" y="1591056"/>
            <a:ext cx="731520" cy="3657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34353" y="162763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t>硬件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18953" y="2002536"/>
            <a:ext cx="164592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64673" y="2039112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 dirty="0" err="1"/>
              <a:t>test_matmul.c</a:t>
            </a:r>
            <a:endParaRPr sz="1400" dirty="0"/>
          </a:p>
        </p:txBody>
      </p:sp>
      <p:sp>
        <p:nvSpPr>
          <p:cNvPr id="18" name="Rectangle 17"/>
          <p:cNvSpPr/>
          <p:nvPr/>
        </p:nvSpPr>
        <p:spPr>
          <a:xfrm>
            <a:off x="2964873" y="2002536"/>
            <a:ext cx="201168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10593" y="203911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rknp_test_matmul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6553" y="2002536"/>
            <a:ext cx="201168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2273" y="203911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Matmul INT8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8233" y="2002536"/>
            <a:ext cx="320040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33953" y="203911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31 组数据，全部 byte-match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88633" y="2002536"/>
            <a:ext cx="73152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34353" y="2039112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t>NPU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18953" y="2478024"/>
            <a:ext cx="1645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64673" y="251460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 dirty="0" err="1"/>
              <a:t>test_tile_matmul.c</a:t>
            </a:r>
            <a:endParaRPr sz="1400" dirty="0"/>
          </a:p>
        </p:txBody>
      </p:sp>
      <p:sp>
        <p:nvSpPr>
          <p:cNvPr id="28" name="Rectangle 27"/>
          <p:cNvSpPr/>
          <p:nvPr/>
        </p:nvSpPr>
        <p:spPr>
          <a:xfrm>
            <a:off x="2964873" y="2478024"/>
            <a:ext cx="2011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10593" y="25146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rknp_test_tile_matmul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76553" y="2478024"/>
            <a:ext cx="2011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2273" y="25146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Tiled Matmul INT8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88233" y="2478024"/>
            <a:ext cx="3200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033953" y="251460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M=256 K=4096 N=32, 4 tiles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88633" y="2478024"/>
            <a:ext cx="731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234353" y="2514600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t>NPU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18953" y="2953512"/>
            <a:ext cx="164592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64673" y="2990088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test_conv2d.c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64873" y="2953512"/>
            <a:ext cx="201168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sz="1400">
              <a:latin typeface="宋体"/>
              <a:ea typeface="宋体"/>
              <a:cs typeface="宋体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10593" y="29900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rknp_test_conv2d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76553" y="2953512"/>
            <a:ext cx="201168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2273" y="299008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Conv2D INT8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88233" y="2953512"/>
            <a:ext cx="320040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33953" y="2990088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8×8×32, k3×3, stride1, pad1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88633" y="2953512"/>
            <a:ext cx="73152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234353" y="2990088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t>NPU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18953" y="3429000"/>
            <a:ext cx="1645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364673" y="3465576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test_dwconv2d.c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64873" y="3429000"/>
            <a:ext cx="2011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010593" y="3465576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rknp_test_dwconv2d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76553" y="3429000"/>
            <a:ext cx="2011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022273" y="3465576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Depthwise Conv2D INT8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8233" y="3429000"/>
            <a:ext cx="3200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033953" y="3465576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8×8×32, k3×3, weight_expand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88633" y="3429000"/>
            <a:ext cx="731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234353" y="3465576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t>NPU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18953" y="3904488"/>
            <a:ext cx="164592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364673" y="3941064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test_avgpool.c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64873" y="3904488"/>
            <a:ext cx="201168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10593" y="394106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rknp_test_avgpool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76553" y="3904488"/>
            <a:ext cx="201168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022273" y="394106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AvgPool INT8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88233" y="3904488"/>
            <a:ext cx="320040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033953" y="3941064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pool2×2, stride2, via dwconv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88633" y="3904488"/>
            <a:ext cx="73152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234353" y="3941064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t>NPU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18953" y="4379976"/>
            <a:ext cx="1645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364673" y="4416552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test_maxpool.c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64873" y="4379976"/>
            <a:ext cx="2011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010593" y="441655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rknp_test_maxpool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76553" y="4379976"/>
            <a:ext cx="2011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022273" y="441655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MaxPool INT8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88233" y="4379976"/>
            <a:ext cx="3200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033953" y="441655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CPU 实现 (NPU 无此硬件路径)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188633" y="4379976"/>
            <a:ext cx="731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234353" y="4416552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t>CPU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18953" y="4855464"/>
            <a:ext cx="164592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364673" y="489204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test_concat.c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64873" y="4855464"/>
            <a:ext cx="201168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010593" y="489204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rknp_test_concat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76553" y="4855464"/>
            <a:ext cx="201168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022273" y="489204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Concat INT8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88233" y="4855464"/>
            <a:ext cx="320040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033953" y="489204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Channel 轴拼接, CPU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188633" y="4855464"/>
            <a:ext cx="73152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0234353" y="4892040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t>CPU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18953" y="5330952"/>
            <a:ext cx="1645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364673" y="5367528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test_eltwise_add.c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64873" y="5330952"/>
            <a:ext cx="2011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010593" y="536752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rknp_test_eltwise_add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76553" y="5330952"/>
            <a:ext cx="2011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022273" y="536752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Eltwise Add INT8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88233" y="5330952"/>
            <a:ext cx="3200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033953" y="5367528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饱和加法, CPU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188633" y="5330952"/>
            <a:ext cx="7315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0234353" y="5367528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t>CPU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18953" y="5806440"/>
            <a:ext cx="164592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364673" y="5843016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test_conv2d_bs.c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64873" y="5806440"/>
            <a:ext cx="201168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010593" y="5843016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400"/>
              <a:t>rknp_test_conv2d_bs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76553" y="5806440"/>
            <a:ext cx="201168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022273" y="5843016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Conv2D + OUT_CVT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988233" y="5806440"/>
            <a:ext cx="320040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033953" y="5843016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INT32→INT8 硬件 requantize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188633" y="5806440"/>
            <a:ext cx="731520" cy="420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0234353" y="5843016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t>NPU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ctr">
              <a:defRPr sz="19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NPU 硬件加速 5 个算子 · CPU 软件实现 3 个 · 混合路径 1 个 · 全部 INT8 量化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Georgia" panose="02040502050405020303" pitchFamily="18" charset="0"/>
              </a:rPr>
              <a:t>AI </a:t>
            </a:r>
            <a:r>
              <a:rPr dirty="0" err="1">
                <a:latin typeface="Georgia" panose="02040502050405020303" pitchFamily="18" charset="0"/>
              </a:rPr>
              <a:t>逆向流程与算子分布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AI 辅助逆向流程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920240"/>
            <a:ext cx="475488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Georgia" panose="02040502050405020303" pitchFamily="18" charset="0"/>
              </a:rPr>
              <a:t>1. </a:t>
            </a:r>
            <a:r>
              <a:rPr dirty="0" err="1">
                <a:latin typeface="Georgia" panose="02040502050405020303" pitchFamily="18" charset="0"/>
              </a:rPr>
              <a:t>二进制输入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8720" y="239572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RK NPU 固件 / 驱动二进制文件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80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Georgia" panose="02040502050405020303" pitchFamily="18" charset="0"/>
              </a:rPr>
              <a:t>2. AI </a:t>
            </a:r>
            <a:r>
              <a:rPr dirty="0" err="1">
                <a:latin typeface="Georgia" panose="02040502050405020303" pitchFamily="18" charset="0"/>
              </a:rPr>
              <a:t>逆向分析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31729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自动识别函数结构、调用关系、参数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3. 算子识别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5020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提取算子类型、输入输出格式、量化参数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34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4. 参数还原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维度、步长、填充、激活函数等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12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5. 测试验证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50468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生成测试用例，byte-match 验证正确性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371600"/>
            <a:ext cx="5303520" cy="47548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算子分布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920240"/>
            <a:ext cx="475488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75120" y="2103120"/>
            <a:ext cx="4754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0" y="2176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Georgia" panose="02040502050405020303" pitchFamily="18" charset="0"/>
              </a:rPr>
              <a:t>NPU </a:t>
            </a:r>
            <a:r>
              <a:rPr dirty="0" err="1">
                <a:latin typeface="Georgia" panose="02040502050405020303" pitchFamily="18" charset="0"/>
              </a:rPr>
              <a:t>硬件加速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61120" y="21762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6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t>5 个算子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514600"/>
            <a:ext cx="4389120" cy="64008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Matmul · Tiled Matmul · Conv2D · Depthwise Conv2D · AvgPool</a:t>
            </a:r>
            <a:br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675120" y="3520440"/>
            <a:ext cx="4754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0" y="35935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CPU 软件实现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5935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6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t>3 个算子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93192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MaxPool · Concat · Eltwise Add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937760"/>
            <a:ext cx="4754880" cy="10922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0" y="50109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6B5B95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混合路径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61120" y="50109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65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t>1 个算子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34924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Conv2D + OUT_CVT (硬件 requantize)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2131" y="6309360"/>
            <a:ext cx="511786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 dirty="0" err="1"/>
              <a:t>全部</a:t>
            </a:r>
            <a:r>
              <a:rPr dirty="0"/>
              <a:t> INT8 </a:t>
            </a:r>
            <a:r>
              <a:rPr dirty="0" err="1"/>
              <a:t>量化</a:t>
            </a:r>
            <a:r>
              <a:rPr dirty="0"/>
              <a:t>  ·  9 / 9 </a:t>
            </a:r>
            <a:r>
              <a:rPr dirty="0" err="1"/>
              <a:t>算子已验证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实践案例：前处理流水线优化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5303520" cy="47548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优化策略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965960"/>
            <a:ext cx="475488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1. 替换 OpenCV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宋体"/>
                <a:ea typeface="宋体"/>
                <a:cs typeface="宋体"/>
              </a:rPr>
              <a:t>前处理从</a:t>
            </a:r>
            <a:r>
              <a:rPr dirty="0">
                <a:latin typeface="宋体"/>
                <a:ea typeface="宋体"/>
                <a:cs typeface="宋体"/>
              </a:rPr>
              <a:t> OpenCV </a:t>
            </a:r>
            <a:r>
              <a:rPr dirty="0" err="1">
                <a:latin typeface="宋体"/>
                <a:ea typeface="宋体"/>
                <a:cs typeface="宋体"/>
              </a:rPr>
              <a:t>替换为纯</a:t>
            </a:r>
            <a:r>
              <a:rPr dirty="0">
                <a:latin typeface="宋体"/>
                <a:ea typeface="宋体"/>
                <a:cs typeface="宋体"/>
              </a:rPr>
              <a:t> </a:t>
            </a:r>
            <a:r>
              <a:rPr dirty="0" err="1">
                <a:latin typeface="宋体"/>
                <a:ea typeface="宋体"/>
                <a:cs typeface="宋体"/>
              </a:rPr>
              <a:t>Rust，减少跨语言调用开销，并让内存布局可控</a:t>
            </a:r>
            <a:r>
              <a:rPr dirty="0">
                <a:latin typeface="宋体"/>
                <a:ea typeface="宋体"/>
                <a:cs typeface="宋体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2. 调优算法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宋体"/>
                <a:ea typeface="宋体"/>
                <a:cs typeface="宋体"/>
              </a:rPr>
              <a:t>针对</a:t>
            </a:r>
            <a:r>
              <a:rPr dirty="0">
                <a:latin typeface="宋体"/>
                <a:ea typeface="宋体"/>
                <a:cs typeface="宋体"/>
              </a:rPr>
              <a:t> Rust </a:t>
            </a:r>
            <a:r>
              <a:rPr dirty="0" err="1">
                <a:latin typeface="宋体"/>
                <a:ea typeface="宋体"/>
                <a:cs typeface="宋体"/>
              </a:rPr>
              <a:t>零成本抽象做算法调优，利用</a:t>
            </a:r>
            <a:r>
              <a:rPr dirty="0">
                <a:latin typeface="宋体"/>
                <a:ea typeface="宋体"/>
                <a:cs typeface="宋体"/>
              </a:rPr>
              <a:t> SIMD </a:t>
            </a:r>
            <a:r>
              <a:rPr dirty="0" err="1">
                <a:latin typeface="宋体"/>
                <a:ea typeface="宋体"/>
                <a:cs typeface="宋体"/>
              </a:rPr>
              <a:t>与内存对齐优化热点路径</a:t>
            </a:r>
            <a:r>
              <a:rPr dirty="0">
                <a:latin typeface="宋体"/>
                <a:ea typeface="宋体"/>
                <a:cs typeface="宋体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3. 调整摄像头分辨率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2064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宋体"/>
                <a:ea typeface="宋体"/>
                <a:cs typeface="宋体"/>
              </a:rPr>
              <a:t>降低摄像头输出分辨率，减少下游处理数据量，端到端延迟大幅下降</a:t>
            </a:r>
            <a:r>
              <a:rPr dirty="0">
                <a:latin typeface="宋体"/>
                <a:ea typeface="宋体"/>
                <a:cs typeface="宋体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371600"/>
            <a:ext cx="4937760" cy="47548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15544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优化效果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965960"/>
            <a:ext cx="438912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69084" y="219456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sz="2000" dirty="0">
                <a:latin typeface="宋体"/>
                <a:ea typeface="宋体"/>
                <a:cs typeface="宋体"/>
              </a:rPr>
              <a:t>纯 Rust </a:t>
            </a:r>
            <a:r>
              <a:rPr sz="2000" dirty="0" err="1">
                <a:latin typeface="宋体"/>
                <a:ea typeface="宋体"/>
                <a:cs typeface="宋体"/>
              </a:rPr>
              <a:t>替换</a:t>
            </a:r>
            <a:r>
              <a:rPr sz="2000" dirty="0">
                <a:latin typeface="宋体"/>
                <a:ea typeface="宋体"/>
                <a:cs typeface="宋体"/>
              </a:rPr>
              <a:t> OpenCV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606040"/>
            <a:ext cx="4389120" cy="914400"/>
          </a:xfrm>
          <a:prstGeom prst="rect">
            <a:avLst/>
          </a:prstGeom>
          <a:solidFill>
            <a:srgbClr val="F0EEE8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dirty="0">
              <a:latin typeface="宋体"/>
              <a:ea typeface="宋体"/>
              <a:cs typeface="宋体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0880" y="26517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宋体"/>
                <a:ea typeface="宋体"/>
                <a:cs typeface="宋体"/>
              </a:rPr>
              <a:t>优化前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9260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C0392B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宋体"/>
                <a:ea typeface="宋体"/>
                <a:cs typeface="宋体"/>
              </a:rPr>
              <a:t>~202 </a:t>
            </a:r>
            <a:r>
              <a:rPr dirty="0" err="1">
                <a:latin typeface="宋体"/>
                <a:ea typeface="宋体"/>
                <a:cs typeface="宋体"/>
              </a:rPr>
              <a:t>ms</a:t>
            </a:r>
            <a:endParaRPr dirty="0">
              <a:latin typeface="宋体"/>
              <a:ea typeface="宋体"/>
              <a:cs typeface="宋体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6800" y="2834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300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宋体"/>
                <a:ea typeface="宋体"/>
                <a:cs typeface="宋体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6517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宋体"/>
                <a:ea typeface="宋体"/>
                <a:cs typeface="宋体"/>
              </a:rPr>
              <a:t>优化后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9260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宋体"/>
                <a:ea typeface="宋体"/>
                <a:cs typeface="宋体"/>
              </a:rPr>
              <a:t>~177 </a:t>
            </a:r>
            <a:r>
              <a:rPr dirty="0" err="1">
                <a:latin typeface="宋体"/>
                <a:ea typeface="宋体"/>
                <a:cs typeface="宋体"/>
              </a:rPr>
              <a:t>ms</a:t>
            </a:r>
            <a:endParaRPr dirty="0">
              <a:latin typeface="宋体"/>
              <a:ea typeface="宋体"/>
              <a:cs typeface="宋体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23862" y="3221182"/>
            <a:ext cx="13716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宋体"/>
                <a:ea typeface="宋体"/>
                <a:cs typeface="宋体"/>
              </a:rPr>
              <a:t>↓ 约 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9084" y="3749039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sz="2000">
                <a:latin typeface="宋体"/>
                <a:ea typeface="宋体"/>
                <a:cs typeface="宋体"/>
              </a:rPr>
              <a:t>调整摄像头分辨率后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4160520"/>
            <a:ext cx="4389120" cy="1097280"/>
          </a:xfrm>
          <a:prstGeom prst="rect">
            <a:avLst/>
          </a:prstGeom>
          <a:solidFill>
            <a:srgbClr val="F0EEE8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40880" y="420624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宋体"/>
                <a:ea typeface="宋体"/>
                <a:cs typeface="宋体"/>
              </a:rPr>
              <a:t>优化前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48056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C0392B"/>
                </a:solidFill>
                <a:latin typeface="宋体"/>
                <a:ea typeface="宋体"/>
                <a:cs typeface="宋体"/>
              </a:defRPr>
            </a:pPr>
            <a:r>
              <a:rPr dirty="0">
                <a:latin typeface="宋体"/>
                <a:ea typeface="宋体"/>
                <a:cs typeface="宋体"/>
              </a:rPr>
              <a:t>~202 </a:t>
            </a:r>
            <a:r>
              <a:rPr dirty="0" err="1">
                <a:latin typeface="宋体"/>
                <a:ea typeface="宋体"/>
                <a:cs typeface="宋体"/>
              </a:rPr>
              <a:t>ms</a:t>
            </a:r>
            <a:endParaRPr dirty="0">
              <a:latin typeface="宋体"/>
              <a:ea typeface="宋体"/>
              <a:cs typeface="宋体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86800" y="44348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300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宋体"/>
                <a:ea typeface="宋体"/>
                <a:cs typeface="宋体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20624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宋体"/>
                <a:ea typeface="宋体"/>
                <a:cs typeface="宋体"/>
              </a:rPr>
              <a:t>优化后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48056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宋体"/>
                <a:ea typeface="宋体"/>
                <a:cs typeface="宋体"/>
              </a:rPr>
              <a:t>~60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937760"/>
            <a:ext cx="13716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宋体"/>
                <a:ea typeface="宋体"/>
                <a:cs typeface="宋体"/>
              </a:rPr>
              <a:t>↓ 约 70%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5486400"/>
            <a:ext cx="438912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858000" y="562356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sz="1600" dirty="0" err="1">
                <a:latin typeface="宋体"/>
                <a:ea typeface="宋体"/>
                <a:cs typeface="宋体"/>
              </a:rPr>
              <a:t>帧率</a:t>
            </a:r>
            <a:r>
              <a:rPr sz="1600" dirty="0">
                <a:latin typeface="宋体"/>
                <a:ea typeface="宋体"/>
                <a:cs typeface="宋体"/>
              </a:rPr>
              <a:t>：~5 FPS → ~17 </a:t>
            </a:r>
            <a:r>
              <a:rPr sz="1600" dirty="0" err="1">
                <a:latin typeface="宋体"/>
                <a:ea typeface="宋体"/>
                <a:cs typeface="宋体"/>
              </a:rPr>
              <a:t>FPS，实时性显著改善</a:t>
            </a:r>
            <a:endParaRPr sz="1600" dirty="0">
              <a:latin typeface="宋体"/>
              <a:ea typeface="宋体"/>
              <a:cs typeface="宋体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4400" y="63093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95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宋体"/>
                <a:ea typeface="宋体"/>
                <a:cs typeface="宋体"/>
              </a:rPr>
              <a:t>结论：纯 Rust 前处理 + 分辨率调优显著降低延迟，验证了全栈可控路径。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宋体"/>
                <a:ea typeface="宋体"/>
                <a:cs typeface="宋体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ED66134-AAD3-C492-E9C2-9A8CD6D18AC1}"/>
              </a:ext>
            </a:extLst>
          </p:cNvPr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15103A1A-B1CA-4C81-25CF-54DD7A21E932}"/>
              </a:ext>
            </a:extLst>
          </p:cNvPr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l">
              <a:defRPr sz="3000" b="1">
                <a:solidFill>
                  <a:srgbClr val="2D2D2D"/>
                </a:solidFill>
                <a:latin typeface="Georgia"/>
              </a:defRPr>
            </a:pPr>
            <a:r>
              <a:t>性能对比：Linux vs StarryOS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1348856-03B1-BCD4-7240-D0E746B63074}"/>
              </a:ext>
            </a:extLst>
          </p:cNvPr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5C872436-D43E-5FA1-EA34-277D351F38D9}"/>
              </a:ext>
            </a:extLst>
          </p:cNvPr>
          <p:cNvSpPr txBox="1"/>
          <p:nvPr/>
        </p:nvSpPr>
        <p:spPr>
          <a:xfrm>
            <a:off x="1097280" y="1143000"/>
            <a:ext cx="9144000" cy="365760"/>
          </a:xfrm>
          <a:prstGeom prst="rect">
            <a:avLst/>
          </a:prstGeom>
          <a:noFill/>
        </p:spPr>
        <p:txBody>
          <a:bodyPr wrap="square" tIns="45720" bIns="45720" anchor="ctr">
            <a:normAutofit fontScale="97500"/>
          </a:bodyPr>
          <a:lstStyle/>
          <a:p>
            <a:pPr algn="l">
              <a:defRPr sz="1700" b="0">
                <a:solidFill>
                  <a:srgbClr val="555555"/>
                </a:solidFill>
                <a:latin typeface="Georgia"/>
              </a:defRPr>
            </a:pPr>
            <a:r>
              <a:t>4 模型推理性能基准测试（smp=8, virtual actuators）</a:t>
            </a:r>
          </a:p>
        </p:txBody>
      </p:sp>
      <p:graphicFrame>
        <p:nvGraphicFramePr>
          <p:cNvPr id="8" name="Chart 5">
            <a:extLst>
              <a:ext uri="{FF2B5EF4-FFF2-40B4-BE49-F238E27FC236}">
                <a16:creationId xmlns:a16="http://schemas.microsoft.com/office/drawing/2014/main" id="{36A73482-EEC6-9C2A-6EC2-556DA35F2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82419"/>
              </p:ext>
            </p:extLst>
          </p:nvPr>
        </p:nvGraphicFramePr>
        <p:xfrm>
          <a:off x="731520" y="1645920"/>
          <a:ext cx="54864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5A2056FA-DC63-3773-B714-EFA0196C0EAE}"/>
              </a:ext>
            </a:extLst>
          </p:cNvPr>
          <p:cNvSpPr/>
          <p:nvPr/>
        </p:nvSpPr>
        <p:spPr>
          <a:xfrm>
            <a:off x="6583680" y="1645920"/>
            <a:ext cx="5120640" cy="438912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608CF921-8D58-F705-CA33-78681921888C}"/>
              </a:ext>
            </a:extLst>
          </p:cNvPr>
          <p:cNvSpPr txBox="1"/>
          <p:nvPr/>
        </p:nvSpPr>
        <p:spPr>
          <a:xfrm>
            <a:off x="6766560" y="1737360"/>
            <a:ext cx="4754880" cy="365760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l">
              <a:defRPr sz="1700" b="1">
                <a:solidFill>
                  <a:srgbClr val="1A5C8A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详细数据（单位：ms）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27648D37-6328-E0DF-68C5-C59F623042E2}"/>
              </a:ext>
            </a:extLst>
          </p:cNvPr>
          <p:cNvSpPr/>
          <p:nvPr/>
        </p:nvSpPr>
        <p:spPr>
          <a:xfrm>
            <a:off x="6766560" y="2148840"/>
            <a:ext cx="475488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2" name="TextBox 60">
            <a:extLst>
              <a:ext uri="{FF2B5EF4-FFF2-40B4-BE49-F238E27FC236}">
                <a16:creationId xmlns:a16="http://schemas.microsoft.com/office/drawing/2014/main" id="{B68728E3-19BD-BF1B-3CD9-273A70C971E0}"/>
              </a:ext>
            </a:extLst>
          </p:cNvPr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square" tIns="45720" bIns="45720" anchor="ctr">
            <a:normAutofit fontScale="97500"/>
          </a:bodyPr>
          <a:lstStyle/>
          <a:p>
            <a:pPr algn="ctr">
              <a:defRPr sz="1650" b="1">
                <a:solidFill>
                  <a:srgbClr val="2E7D6B"/>
                </a:solidFill>
                <a:latin typeface="Georgia"/>
              </a:defRPr>
            </a:pPr>
            <a:r>
              <a:t>StarryOS 推理时间与 Linux 接近；e2e 差距主要来自前处理流水线，已通过 Rust 优化明显缩小。</a:t>
            </a:r>
          </a:p>
        </p:txBody>
      </p:sp>
      <p:sp>
        <p:nvSpPr>
          <p:cNvPr id="13" name="Rectangle 61">
            <a:extLst>
              <a:ext uri="{FF2B5EF4-FFF2-40B4-BE49-F238E27FC236}">
                <a16:creationId xmlns:a16="http://schemas.microsoft.com/office/drawing/2014/main" id="{0622D576-F75A-CA6B-B6DE-572A43B9AAE4}"/>
              </a:ext>
            </a:extLst>
          </p:cNvPr>
          <p:cNvSpPr/>
          <p:nvPr/>
        </p:nvSpPr>
        <p:spPr>
          <a:xfrm>
            <a:off x="6583680" y="1645920"/>
            <a:ext cx="5120640" cy="438912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4" name="TextBox 62">
            <a:extLst>
              <a:ext uri="{FF2B5EF4-FFF2-40B4-BE49-F238E27FC236}">
                <a16:creationId xmlns:a16="http://schemas.microsoft.com/office/drawing/2014/main" id="{388CE3FE-EABF-1A62-54F1-B06A44372407}"/>
              </a:ext>
            </a:extLst>
          </p:cNvPr>
          <p:cNvSpPr txBox="1"/>
          <p:nvPr/>
        </p:nvSpPr>
        <p:spPr>
          <a:xfrm>
            <a:off x="6766560" y="1737360"/>
            <a:ext cx="4754880" cy="365760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l">
              <a:defRPr sz="1700" b="1">
                <a:solidFill>
                  <a:srgbClr val="1A5C8A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详细数据（单位：ms）</a:t>
            </a:r>
          </a:p>
        </p:txBody>
      </p:sp>
      <p:sp>
        <p:nvSpPr>
          <p:cNvPr id="15" name="Rectangle 63">
            <a:extLst>
              <a:ext uri="{FF2B5EF4-FFF2-40B4-BE49-F238E27FC236}">
                <a16:creationId xmlns:a16="http://schemas.microsoft.com/office/drawing/2014/main" id="{69AA333F-16FE-C4D0-DE2A-E37CB8EBF75B}"/>
              </a:ext>
            </a:extLst>
          </p:cNvPr>
          <p:cNvSpPr/>
          <p:nvPr/>
        </p:nvSpPr>
        <p:spPr>
          <a:xfrm>
            <a:off x="6766560" y="2148840"/>
            <a:ext cx="475488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6" name="Rectangle 64">
            <a:extLst>
              <a:ext uri="{FF2B5EF4-FFF2-40B4-BE49-F238E27FC236}">
                <a16:creationId xmlns:a16="http://schemas.microsoft.com/office/drawing/2014/main" id="{C0DF91BC-7197-6917-3372-26983A252E60}"/>
              </a:ext>
            </a:extLst>
          </p:cNvPr>
          <p:cNvSpPr/>
          <p:nvPr/>
        </p:nvSpPr>
        <p:spPr>
          <a:xfrm>
            <a:off x="6766560" y="2286000"/>
            <a:ext cx="1280160" cy="4572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7" name="TextBox 65">
            <a:extLst>
              <a:ext uri="{FF2B5EF4-FFF2-40B4-BE49-F238E27FC236}">
                <a16:creationId xmlns:a16="http://schemas.microsoft.com/office/drawing/2014/main" id="{8419B1B1-C762-D598-ACA4-8932D51DD284}"/>
              </a:ext>
            </a:extLst>
          </p:cNvPr>
          <p:cNvSpPr txBox="1"/>
          <p:nvPr/>
        </p:nvSpPr>
        <p:spPr>
          <a:xfrm>
            <a:off x="6784848" y="2304288"/>
            <a:ext cx="1243584" cy="201168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模型</a:t>
            </a:r>
          </a:p>
        </p:txBody>
      </p:sp>
      <p:sp>
        <p:nvSpPr>
          <p:cNvPr id="18" name="Rectangle 66">
            <a:extLst>
              <a:ext uri="{FF2B5EF4-FFF2-40B4-BE49-F238E27FC236}">
                <a16:creationId xmlns:a16="http://schemas.microsoft.com/office/drawing/2014/main" id="{B936876F-C4E1-869C-F8BD-025645C9AE49}"/>
              </a:ext>
            </a:extLst>
          </p:cNvPr>
          <p:cNvSpPr/>
          <p:nvPr/>
        </p:nvSpPr>
        <p:spPr>
          <a:xfrm>
            <a:off x="8046720" y="2286000"/>
            <a:ext cx="777240" cy="4572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9" name="TextBox 67">
            <a:extLst>
              <a:ext uri="{FF2B5EF4-FFF2-40B4-BE49-F238E27FC236}">
                <a16:creationId xmlns:a16="http://schemas.microsoft.com/office/drawing/2014/main" id="{53FA06E8-170F-02DB-93C2-231C298AC006}"/>
              </a:ext>
            </a:extLst>
          </p:cNvPr>
          <p:cNvSpPr txBox="1"/>
          <p:nvPr/>
        </p:nvSpPr>
        <p:spPr>
          <a:xfrm>
            <a:off x="8065008" y="2304288"/>
            <a:ext cx="740664" cy="201168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Linux</a:t>
            </a:r>
          </a:p>
        </p:txBody>
      </p:sp>
      <p:sp>
        <p:nvSpPr>
          <p:cNvPr id="20" name="TextBox 68">
            <a:extLst>
              <a:ext uri="{FF2B5EF4-FFF2-40B4-BE49-F238E27FC236}">
                <a16:creationId xmlns:a16="http://schemas.microsoft.com/office/drawing/2014/main" id="{B4D25CD8-A80D-1C4F-D8C1-7C70D9C1184A}"/>
              </a:ext>
            </a:extLst>
          </p:cNvPr>
          <p:cNvSpPr txBox="1"/>
          <p:nvPr/>
        </p:nvSpPr>
        <p:spPr>
          <a:xfrm>
            <a:off x="8065008" y="2514600"/>
            <a:ext cx="740664" cy="201168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000" b="0">
                <a:solidFill>
                  <a:srgbClr val="FFFFFF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run</a:t>
            </a:r>
          </a:p>
        </p:txBody>
      </p:sp>
      <p:sp>
        <p:nvSpPr>
          <p:cNvPr id="21" name="Rectangle 69">
            <a:extLst>
              <a:ext uri="{FF2B5EF4-FFF2-40B4-BE49-F238E27FC236}">
                <a16:creationId xmlns:a16="http://schemas.microsoft.com/office/drawing/2014/main" id="{D8E6BC2F-E42C-5946-F958-E64CD2315DCD}"/>
              </a:ext>
            </a:extLst>
          </p:cNvPr>
          <p:cNvSpPr/>
          <p:nvPr/>
        </p:nvSpPr>
        <p:spPr>
          <a:xfrm>
            <a:off x="8823960" y="2286000"/>
            <a:ext cx="777240" cy="4572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2" name="TextBox 70">
            <a:extLst>
              <a:ext uri="{FF2B5EF4-FFF2-40B4-BE49-F238E27FC236}">
                <a16:creationId xmlns:a16="http://schemas.microsoft.com/office/drawing/2014/main" id="{97AAF871-5C60-08DE-C9E0-E5999128216B}"/>
              </a:ext>
            </a:extLst>
          </p:cNvPr>
          <p:cNvSpPr txBox="1"/>
          <p:nvPr/>
        </p:nvSpPr>
        <p:spPr>
          <a:xfrm>
            <a:off x="8842248" y="2304288"/>
            <a:ext cx="740664" cy="201168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Linux</a:t>
            </a:r>
          </a:p>
        </p:txBody>
      </p:sp>
      <p:sp>
        <p:nvSpPr>
          <p:cNvPr id="23" name="TextBox 71">
            <a:extLst>
              <a:ext uri="{FF2B5EF4-FFF2-40B4-BE49-F238E27FC236}">
                <a16:creationId xmlns:a16="http://schemas.microsoft.com/office/drawing/2014/main" id="{58E0B83B-D72A-EFA8-6C6C-7EFACEF6289D}"/>
              </a:ext>
            </a:extLst>
          </p:cNvPr>
          <p:cNvSpPr txBox="1"/>
          <p:nvPr/>
        </p:nvSpPr>
        <p:spPr>
          <a:xfrm>
            <a:off x="8842248" y="2514600"/>
            <a:ext cx="740664" cy="201168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000" b="0">
                <a:solidFill>
                  <a:srgbClr val="FFFFFF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e2e</a:t>
            </a:r>
          </a:p>
        </p:txBody>
      </p:sp>
      <p:sp>
        <p:nvSpPr>
          <p:cNvPr id="24" name="Rectangle 72">
            <a:extLst>
              <a:ext uri="{FF2B5EF4-FFF2-40B4-BE49-F238E27FC236}">
                <a16:creationId xmlns:a16="http://schemas.microsoft.com/office/drawing/2014/main" id="{1A74002B-F665-64CB-90D3-E92DE8BD56BE}"/>
              </a:ext>
            </a:extLst>
          </p:cNvPr>
          <p:cNvSpPr/>
          <p:nvPr/>
        </p:nvSpPr>
        <p:spPr>
          <a:xfrm>
            <a:off x="9601200" y="2286000"/>
            <a:ext cx="868680" cy="4572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5" name="TextBox 73">
            <a:extLst>
              <a:ext uri="{FF2B5EF4-FFF2-40B4-BE49-F238E27FC236}">
                <a16:creationId xmlns:a16="http://schemas.microsoft.com/office/drawing/2014/main" id="{05734ED7-457D-8B2C-09F4-3D44D0DDAD92}"/>
              </a:ext>
            </a:extLst>
          </p:cNvPr>
          <p:cNvSpPr txBox="1"/>
          <p:nvPr/>
        </p:nvSpPr>
        <p:spPr>
          <a:xfrm>
            <a:off x="9619488" y="2304288"/>
            <a:ext cx="832103" cy="201168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StarryOS</a:t>
            </a:r>
          </a:p>
        </p:txBody>
      </p:sp>
      <p:sp>
        <p:nvSpPr>
          <p:cNvPr id="26" name="TextBox 74">
            <a:extLst>
              <a:ext uri="{FF2B5EF4-FFF2-40B4-BE49-F238E27FC236}">
                <a16:creationId xmlns:a16="http://schemas.microsoft.com/office/drawing/2014/main" id="{6A84D02A-C84E-ACF9-1F99-AA63ADD8077D}"/>
              </a:ext>
            </a:extLst>
          </p:cNvPr>
          <p:cNvSpPr txBox="1"/>
          <p:nvPr/>
        </p:nvSpPr>
        <p:spPr>
          <a:xfrm>
            <a:off x="9619488" y="2514600"/>
            <a:ext cx="832103" cy="201168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000" b="0">
                <a:solidFill>
                  <a:srgbClr val="FFFFFF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run p50</a:t>
            </a:r>
          </a:p>
        </p:txBody>
      </p:sp>
      <p:sp>
        <p:nvSpPr>
          <p:cNvPr id="27" name="Rectangle 75">
            <a:extLst>
              <a:ext uri="{FF2B5EF4-FFF2-40B4-BE49-F238E27FC236}">
                <a16:creationId xmlns:a16="http://schemas.microsoft.com/office/drawing/2014/main" id="{7EFC0462-D08F-2B35-7816-3C3DD585E140}"/>
              </a:ext>
            </a:extLst>
          </p:cNvPr>
          <p:cNvSpPr/>
          <p:nvPr/>
        </p:nvSpPr>
        <p:spPr>
          <a:xfrm>
            <a:off x="10469880" y="2286000"/>
            <a:ext cx="868680" cy="4572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8" name="TextBox 76">
            <a:extLst>
              <a:ext uri="{FF2B5EF4-FFF2-40B4-BE49-F238E27FC236}">
                <a16:creationId xmlns:a16="http://schemas.microsoft.com/office/drawing/2014/main" id="{EA20DD00-F44C-E3D6-1E69-54EF1A030A44}"/>
              </a:ext>
            </a:extLst>
          </p:cNvPr>
          <p:cNvSpPr txBox="1"/>
          <p:nvPr/>
        </p:nvSpPr>
        <p:spPr>
          <a:xfrm>
            <a:off x="10488167" y="2304288"/>
            <a:ext cx="832103" cy="201168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000" b="1">
                <a:solidFill>
                  <a:srgbClr val="FFFFFF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StarryOS</a:t>
            </a:r>
          </a:p>
        </p:txBody>
      </p:sp>
      <p:sp>
        <p:nvSpPr>
          <p:cNvPr id="29" name="TextBox 77">
            <a:extLst>
              <a:ext uri="{FF2B5EF4-FFF2-40B4-BE49-F238E27FC236}">
                <a16:creationId xmlns:a16="http://schemas.microsoft.com/office/drawing/2014/main" id="{464B0BA9-952D-E001-3FEB-635E6E417AA3}"/>
              </a:ext>
            </a:extLst>
          </p:cNvPr>
          <p:cNvSpPr txBox="1"/>
          <p:nvPr/>
        </p:nvSpPr>
        <p:spPr>
          <a:xfrm>
            <a:off x="10488167" y="2514600"/>
            <a:ext cx="832103" cy="201168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000" b="0">
                <a:solidFill>
                  <a:srgbClr val="FFFFFF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e2e p50</a:t>
            </a:r>
          </a:p>
        </p:txBody>
      </p:sp>
      <p:sp>
        <p:nvSpPr>
          <p:cNvPr id="30" name="Rectangle 78">
            <a:extLst>
              <a:ext uri="{FF2B5EF4-FFF2-40B4-BE49-F238E27FC236}">
                <a16:creationId xmlns:a16="http://schemas.microsoft.com/office/drawing/2014/main" id="{74376C3F-1ACF-9255-465F-39748FB97BB9}"/>
              </a:ext>
            </a:extLst>
          </p:cNvPr>
          <p:cNvSpPr/>
          <p:nvPr/>
        </p:nvSpPr>
        <p:spPr>
          <a:xfrm>
            <a:off x="6766560" y="2834640"/>
            <a:ext cx="128016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1" name="TextBox 79">
            <a:extLst>
              <a:ext uri="{FF2B5EF4-FFF2-40B4-BE49-F238E27FC236}">
                <a16:creationId xmlns:a16="http://schemas.microsoft.com/office/drawing/2014/main" id="{F38B7EA4-5CF3-27E0-E82B-6A89A1D47B4F}"/>
              </a:ext>
            </a:extLst>
          </p:cNvPr>
          <p:cNvSpPr txBox="1"/>
          <p:nvPr/>
        </p:nvSpPr>
        <p:spPr>
          <a:xfrm>
            <a:off x="6784848" y="2871216"/>
            <a:ext cx="1243584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0000" lnSpcReduction="20000"/>
          </a:bodyPr>
          <a:lstStyle/>
          <a:p>
            <a:pPr algn="ctr">
              <a:defRPr sz="1350" b="1">
                <a:solidFill>
                  <a:srgbClr val="B85C2A"/>
                </a:solidFill>
                <a:latin typeface="Georgia"/>
              </a:defRPr>
            </a:pPr>
            <a:r>
              <a:rPr dirty="0">
                <a:latin typeface="+mn-ea"/>
                <a:ea typeface="+mn-ea"/>
              </a:rPr>
              <a:t>relu_480x640 ★</a:t>
            </a:r>
          </a:p>
        </p:txBody>
      </p:sp>
      <p:sp>
        <p:nvSpPr>
          <p:cNvPr id="32" name="Rectangle 80">
            <a:extLst>
              <a:ext uri="{FF2B5EF4-FFF2-40B4-BE49-F238E27FC236}">
                <a16:creationId xmlns:a16="http://schemas.microsoft.com/office/drawing/2014/main" id="{8ED2FACF-10DC-DA50-F27B-620EFC69C285}"/>
              </a:ext>
            </a:extLst>
          </p:cNvPr>
          <p:cNvSpPr/>
          <p:nvPr/>
        </p:nvSpPr>
        <p:spPr>
          <a:xfrm>
            <a:off x="8046720" y="2834640"/>
            <a:ext cx="77724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3" name="TextBox 81">
            <a:extLst>
              <a:ext uri="{FF2B5EF4-FFF2-40B4-BE49-F238E27FC236}">
                <a16:creationId xmlns:a16="http://schemas.microsoft.com/office/drawing/2014/main" id="{8129E673-67BF-4C53-4642-85EF1D5F4D3F}"/>
              </a:ext>
            </a:extLst>
          </p:cNvPr>
          <p:cNvSpPr txBox="1"/>
          <p:nvPr/>
        </p:nvSpPr>
        <p:spPr>
          <a:xfrm>
            <a:off x="8065008" y="2871216"/>
            <a:ext cx="740664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5.3</a:t>
            </a:r>
          </a:p>
        </p:txBody>
      </p:sp>
      <p:sp>
        <p:nvSpPr>
          <p:cNvPr id="34" name="Rectangle 82">
            <a:extLst>
              <a:ext uri="{FF2B5EF4-FFF2-40B4-BE49-F238E27FC236}">
                <a16:creationId xmlns:a16="http://schemas.microsoft.com/office/drawing/2014/main" id="{58EC4162-C40E-1AF3-9842-82E188E591BA}"/>
              </a:ext>
            </a:extLst>
          </p:cNvPr>
          <p:cNvSpPr/>
          <p:nvPr/>
        </p:nvSpPr>
        <p:spPr>
          <a:xfrm>
            <a:off x="8823960" y="2834640"/>
            <a:ext cx="77724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5" name="TextBox 83">
            <a:extLst>
              <a:ext uri="{FF2B5EF4-FFF2-40B4-BE49-F238E27FC236}">
                <a16:creationId xmlns:a16="http://schemas.microsoft.com/office/drawing/2014/main" id="{90D61E20-31AE-3A37-3E08-64E0D09D3C56}"/>
              </a:ext>
            </a:extLst>
          </p:cNvPr>
          <p:cNvSpPr txBox="1"/>
          <p:nvPr/>
        </p:nvSpPr>
        <p:spPr>
          <a:xfrm>
            <a:off x="8842248" y="2871216"/>
            <a:ext cx="740664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11.1</a:t>
            </a:r>
          </a:p>
        </p:txBody>
      </p:sp>
      <p:sp>
        <p:nvSpPr>
          <p:cNvPr id="36" name="Rectangle 84">
            <a:extLst>
              <a:ext uri="{FF2B5EF4-FFF2-40B4-BE49-F238E27FC236}">
                <a16:creationId xmlns:a16="http://schemas.microsoft.com/office/drawing/2014/main" id="{957DD126-5614-0ED7-B282-AC22CA328600}"/>
              </a:ext>
            </a:extLst>
          </p:cNvPr>
          <p:cNvSpPr/>
          <p:nvPr/>
        </p:nvSpPr>
        <p:spPr>
          <a:xfrm>
            <a:off x="9601200" y="2834640"/>
            <a:ext cx="86868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7" name="TextBox 85">
            <a:extLst>
              <a:ext uri="{FF2B5EF4-FFF2-40B4-BE49-F238E27FC236}">
                <a16:creationId xmlns:a16="http://schemas.microsoft.com/office/drawing/2014/main" id="{C7FC48F3-38AF-A6DB-B14F-BA42495FB14A}"/>
              </a:ext>
            </a:extLst>
          </p:cNvPr>
          <p:cNvSpPr txBox="1"/>
          <p:nvPr/>
        </p:nvSpPr>
        <p:spPr>
          <a:xfrm>
            <a:off x="9619488" y="2871216"/>
            <a:ext cx="832103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5.9</a:t>
            </a:r>
          </a:p>
        </p:txBody>
      </p:sp>
      <p:sp>
        <p:nvSpPr>
          <p:cNvPr id="38" name="Rectangle 86">
            <a:extLst>
              <a:ext uri="{FF2B5EF4-FFF2-40B4-BE49-F238E27FC236}">
                <a16:creationId xmlns:a16="http://schemas.microsoft.com/office/drawing/2014/main" id="{928B5918-CBB1-7200-1858-3FD26D1BFF9F}"/>
              </a:ext>
            </a:extLst>
          </p:cNvPr>
          <p:cNvSpPr/>
          <p:nvPr/>
        </p:nvSpPr>
        <p:spPr>
          <a:xfrm>
            <a:off x="10469880" y="2834640"/>
            <a:ext cx="86868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9" name="TextBox 87">
            <a:extLst>
              <a:ext uri="{FF2B5EF4-FFF2-40B4-BE49-F238E27FC236}">
                <a16:creationId xmlns:a16="http://schemas.microsoft.com/office/drawing/2014/main" id="{5EDE64E6-E783-09FF-FE90-415B86AAFE0C}"/>
              </a:ext>
            </a:extLst>
          </p:cNvPr>
          <p:cNvSpPr txBox="1"/>
          <p:nvPr/>
        </p:nvSpPr>
        <p:spPr>
          <a:xfrm>
            <a:off x="10488167" y="2871216"/>
            <a:ext cx="832103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111</a:t>
            </a:r>
          </a:p>
        </p:txBody>
      </p:sp>
      <p:sp>
        <p:nvSpPr>
          <p:cNvPr id="40" name="Rectangle 88">
            <a:extLst>
              <a:ext uri="{FF2B5EF4-FFF2-40B4-BE49-F238E27FC236}">
                <a16:creationId xmlns:a16="http://schemas.microsoft.com/office/drawing/2014/main" id="{9F61B6B0-322F-007E-093E-4F474F3ECC0F}"/>
              </a:ext>
            </a:extLst>
          </p:cNvPr>
          <p:cNvSpPr/>
          <p:nvPr/>
        </p:nvSpPr>
        <p:spPr>
          <a:xfrm>
            <a:off x="6766560" y="3291840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1" name="TextBox 89">
            <a:extLst>
              <a:ext uri="{FF2B5EF4-FFF2-40B4-BE49-F238E27FC236}">
                <a16:creationId xmlns:a16="http://schemas.microsoft.com/office/drawing/2014/main" id="{8D4A6FC5-EA21-744A-AB55-0752079D91F1}"/>
              </a:ext>
            </a:extLst>
          </p:cNvPr>
          <p:cNvSpPr txBox="1"/>
          <p:nvPr/>
        </p:nvSpPr>
        <p:spPr>
          <a:xfrm>
            <a:off x="6784848" y="3328416"/>
            <a:ext cx="1243584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 dirty="0">
                <a:latin typeface="+mn-ea"/>
                <a:ea typeface="+mn-ea"/>
              </a:rPr>
              <a:t>relu_640x640</a:t>
            </a:r>
          </a:p>
        </p:txBody>
      </p:sp>
      <p:sp>
        <p:nvSpPr>
          <p:cNvPr id="42" name="Rectangle 90">
            <a:extLst>
              <a:ext uri="{FF2B5EF4-FFF2-40B4-BE49-F238E27FC236}">
                <a16:creationId xmlns:a16="http://schemas.microsoft.com/office/drawing/2014/main" id="{A15E5488-83C7-79F9-A45D-3558CEB900DF}"/>
              </a:ext>
            </a:extLst>
          </p:cNvPr>
          <p:cNvSpPr/>
          <p:nvPr/>
        </p:nvSpPr>
        <p:spPr>
          <a:xfrm>
            <a:off x="8046720" y="3291840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3" name="TextBox 91">
            <a:extLst>
              <a:ext uri="{FF2B5EF4-FFF2-40B4-BE49-F238E27FC236}">
                <a16:creationId xmlns:a16="http://schemas.microsoft.com/office/drawing/2014/main" id="{B5C79230-3549-2683-EC0D-19EF77591296}"/>
              </a:ext>
            </a:extLst>
          </p:cNvPr>
          <p:cNvSpPr txBox="1"/>
          <p:nvPr/>
        </p:nvSpPr>
        <p:spPr>
          <a:xfrm>
            <a:off x="8065008" y="3328416"/>
            <a:ext cx="740664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8.2</a:t>
            </a:r>
          </a:p>
        </p:txBody>
      </p:sp>
      <p:sp>
        <p:nvSpPr>
          <p:cNvPr id="44" name="Rectangle 92">
            <a:extLst>
              <a:ext uri="{FF2B5EF4-FFF2-40B4-BE49-F238E27FC236}">
                <a16:creationId xmlns:a16="http://schemas.microsoft.com/office/drawing/2014/main" id="{0CB6B999-CD47-128A-F2E6-F45D6A4DB2DF}"/>
              </a:ext>
            </a:extLst>
          </p:cNvPr>
          <p:cNvSpPr/>
          <p:nvPr/>
        </p:nvSpPr>
        <p:spPr>
          <a:xfrm>
            <a:off x="8823960" y="3291840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5" name="TextBox 93">
            <a:extLst>
              <a:ext uri="{FF2B5EF4-FFF2-40B4-BE49-F238E27FC236}">
                <a16:creationId xmlns:a16="http://schemas.microsoft.com/office/drawing/2014/main" id="{58421A32-FCF7-B93E-90B5-77EF645984E3}"/>
              </a:ext>
            </a:extLst>
          </p:cNvPr>
          <p:cNvSpPr txBox="1"/>
          <p:nvPr/>
        </p:nvSpPr>
        <p:spPr>
          <a:xfrm>
            <a:off x="8842248" y="3328416"/>
            <a:ext cx="740664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14.4</a:t>
            </a:r>
          </a:p>
        </p:txBody>
      </p:sp>
      <p:sp>
        <p:nvSpPr>
          <p:cNvPr id="46" name="Rectangle 94">
            <a:extLst>
              <a:ext uri="{FF2B5EF4-FFF2-40B4-BE49-F238E27FC236}">
                <a16:creationId xmlns:a16="http://schemas.microsoft.com/office/drawing/2014/main" id="{6C9DCB0C-7281-32AC-092B-136E11F06A5D}"/>
              </a:ext>
            </a:extLst>
          </p:cNvPr>
          <p:cNvSpPr/>
          <p:nvPr/>
        </p:nvSpPr>
        <p:spPr>
          <a:xfrm>
            <a:off x="9601200" y="3291840"/>
            <a:ext cx="868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7" name="TextBox 95">
            <a:extLst>
              <a:ext uri="{FF2B5EF4-FFF2-40B4-BE49-F238E27FC236}">
                <a16:creationId xmlns:a16="http://schemas.microsoft.com/office/drawing/2014/main" id="{F8E1EE31-8F85-5FBB-D18C-4E9DC7A1193F}"/>
              </a:ext>
            </a:extLst>
          </p:cNvPr>
          <p:cNvSpPr txBox="1"/>
          <p:nvPr/>
        </p:nvSpPr>
        <p:spPr>
          <a:xfrm>
            <a:off x="9619488" y="3328416"/>
            <a:ext cx="832103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7.1</a:t>
            </a:r>
          </a:p>
        </p:txBody>
      </p:sp>
      <p:sp>
        <p:nvSpPr>
          <p:cNvPr id="48" name="Rectangle 96">
            <a:extLst>
              <a:ext uri="{FF2B5EF4-FFF2-40B4-BE49-F238E27FC236}">
                <a16:creationId xmlns:a16="http://schemas.microsoft.com/office/drawing/2014/main" id="{773B3D46-C95C-EA8D-5404-86E671B6D9F6}"/>
              </a:ext>
            </a:extLst>
          </p:cNvPr>
          <p:cNvSpPr/>
          <p:nvPr/>
        </p:nvSpPr>
        <p:spPr>
          <a:xfrm>
            <a:off x="10469880" y="3291840"/>
            <a:ext cx="868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9" name="TextBox 97">
            <a:extLst>
              <a:ext uri="{FF2B5EF4-FFF2-40B4-BE49-F238E27FC236}">
                <a16:creationId xmlns:a16="http://schemas.microsoft.com/office/drawing/2014/main" id="{1AFF2A0B-96A0-0B20-E4AF-63CE99C6CBC3}"/>
              </a:ext>
            </a:extLst>
          </p:cNvPr>
          <p:cNvSpPr txBox="1"/>
          <p:nvPr/>
        </p:nvSpPr>
        <p:spPr>
          <a:xfrm>
            <a:off x="10488167" y="3328416"/>
            <a:ext cx="832103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141</a:t>
            </a:r>
          </a:p>
        </p:txBody>
      </p:sp>
      <p:sp>
        <p:nvSpPr>
          <p:cNvPr id="50" name="Rectangle 98">
            <a:extLst>
              <a:ext uri="{FF2B5EF4-FFF2-40B4-BE49-F238E27FC236}">
                <a16:creationId xmlns:a16="http://schemas.microsoft.com/office/drawing/2014/main" id="{F081BB5D-2842-63BC-A1EF-C27E5EB965A4}"/>
              </a:ext>
            </a:extLst>
          </p:cNvPr>
          <p:cNvSpPr/>
          <p:nvPr/>
        </p:nvSpPr>
        <p:spPr>
          <a:xfrm>
            <a:off x="6766560" y="3749040"/>
            <a:ext cx="128016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1" name="TextBox 99">
            <a:extLst>
              <a:ext uri="{FF2B5EF4-FFF2-40B4-BE49-F238E27FC236}">
                <a16:creationId xmlns:a16="http://schemas.microsoft.com/office/drawing/2014/main" id="{4787D957-D72A-50C5-A605-A3EA0E80309C}"/>
              </a:ext>
            </a:extLst>
          </p:cNvPr>
          <p:cNvSpPr txBox="1"/>
          <p:nvPr/>
        </p:nvSpPr>
        <p:spPr>
          <a:xfrm>
            <a:off x="6784848" y="3785616"/>
            <a:ext cx="1243584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silu_480x640</a:t>
            </a:r>
          </a:p>
        </p:txBody>
      </p:sp>
      <p:sp>
        <p:nvSpPr>
          <p:cNvPr id="52" name="Rectangle 100">
            <a:extLst>
              <a:ext uri="{FF2B5EF4-FFF2-40B4-BE49-F238E27FC236}">
                <a16:creationId xmlns:a16="http://schemas.microsoft.com/office/drawing/2014/main" id="{AA98DC10-324B-B602-6794-CF6A18C970D5}"/>
              </a:ext>
            </a:extLst>
          </p:cNvPr>
          <p:cNvSpPr/>
          <p:nvPr/>
        </p:nvSpPr>
        <p:spPr>
          <a:xfrm>
            <a:off x="8046720" y="3749040"/>
            <a:ext cx="77724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3" name="TextBox 101">
            <a:extLst>
              <a:ext uri="{FF2B5EF4-FFF2-40B4-BE49-F238E27FC236}">
                <a16:creationId xmlns:a16="http://schemas.microsoft.com/office/drawing/2014/main" id="{5D8207B8-60B2-7413-E93C-F54120D8D3D8}"/>
              </a:ext>
            </a:extLst>
          </p:cNvPr>
          <p:cNvSpPr txBox="1"/>
          <p:nvPr/>
        </p:nvSpPr>
        <p:spPr>
          <a:xfrm>
            <a:off x="8065008" y="3785616"/>
            <a:ext cx="740664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13.5</a:t>
            </a:r>
          </a:p>
        </p:txBody>
      </p:sp>
      <p:sp>
        <p:nvSpPr>
          <p:cNvPr id="54" name="Rectangle 102">
            <a:extLst>
              <a:ext uri="{FF2B5EF4-FFF2-40B4-BE49-F238E27FC236}">
                <a16:creationId xmlns:a16="http://schemas.microsoft.com/office/drawing/2014/main" id="{2ED77EFD-2F84-B6B3-CC02-B75028584A67}"/>
              </a:ext>
            </a:extLst>
          </p:cNvPr>
          <p:cNvSpPr/>
          <p:nvPr/>
        </p:nvSpPr>
        <p:spPr>
          <a:xfrm>
            <a:off x="8823960" y="3749040"/>
            <a:ext cx="77724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5" name="TextBox 103">
            <a:extLst>
              <a:ext uri="{FF2B5EF4-FFF2-40B4-BE49-F238E27FC236}">
                <a16:creationId xmlns:a16="http://schemas.microsoft.com/office/drawing/2014/main" id="{3D6DC1F6-04BC-BBB5-E350-63B3BC7D54DF}"/>
              </a:ext>
            </a:extLst>
          </p:cNvPr>
          <p:cNvSpPr txBox="1"/>
          <p:nvPr/>
        </p:nvSpPr>
        <p:spPr>
          <a:xfrm>
            <a:off x="8842248" y="3785616"/>
            <a:ext cx="740664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18.9</a:t>
            </a:r>
          </a:p>
        </p:txBody>
      </p:sp>
      <p:sp>
        <p:nvSpPr>
          <p:cNvPr id="56" name="Rectangle 104">
            <a:extLst>
              <a:ext uri="{FF2B5EF4-FFF2-40B4-BE49-F238E27FC236}">
                <a16:creationId xmlns:a16="http://schemas.microsoft.com/office/drawing/2014/main" id="{08DBA02A-55C4-37C7-4834-641242FCFEF6}"/>
              </a:ext>
            </a:extLst>
          </p:cNvPr>
          <p:cNvSpPr/>
          <p:nvPr/>
        </p:nvSpPr>
        <p:spPr>
          <a:xfrm>
            <a:off x="9601200" y="3749040"/>
            <a:ext cx="86868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7" name="TextBox 105">
            <a:extLst>
              <a:ext uri="{FF2B5EF4-FFF2-40B4-BE49-F238E27FC236}">
                <a16:creationId xmlns:a16="http://schemas.microsoft.com/office/drawing/2014/main" id="{5139DDDF-144D-D42E-07A3-104DF48AA24F}"/>
              </a:ext>
            </a:extLst>
          </p:cNvPr>
          <p:cNvSpPr txBox="1"/>
          <p:nvPr/>
        </p:nvSpPr>
        <p:spPr>
          <a:xfrm>
            <a:off x="9619488" y="3785616"/>
            <a:ext cx="832103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13.3</a:t>
            </a:r>
          </a:p>
        </p:txBody>
      </p:sp>
      <p:sp>
        <p:nvSpPr>
          <p:cNvPr id="58" name="Rectangle 106">
            <a:extLst>
              <a:ext uri="{FF2B5EF4-FFF2-40B4-BE49-F238E27FC236}">
                <a16:creationId xmlns:a16="http://schemas.microsoft.com/office/drawing/2014/main" id="{55A18B70-2BE6-D89F-EBCA-99F615BF3A49}"/>
              </a:ext>
            </a:extLst>
          </p:cNvPr>
          <p:cNvSpPr/>
          <p:nvPr/>
        </p:nvSpPr>
        <p:spPr>
          <a:xfrm>
            <a:off x="10469880" y="3749040"/>
            <a:ext cx="868680" cy="384048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9" name="TextBox 107">
            <a:extLst>
              <a:ext uri="{FF2B5EF4-FFF2-40B4-BE49-F238E27FC236}">
                <a16:creationId xmlns:a16="http://schemas.microsoft.com/office/drawing/2014/main" id="{2C202E1F-3C45-73EF-D09E-93D3EB9DE019}"/>
              </a:ext>
            </a:extLst>
          </p:cNvPr>
          <p:cNvSpPr txBox="1"/>
          <p:nvPr/>
        </p:nvSpPr>
        <p:spPr>
          <a:xfrm>
            <a:off x="10488167" y="3785616"/>
            <a:ext cx="832103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130</a:t>
            </a:r>
          </a:p>
        </p:txBody>
      </p:sp>
      <p:sp>
        <p:nvSpPr>
          <p:cNvPr id="60" name="Rectangle 108">
            <a:extLst>
              <a:ext uri="{FF2B5EF4-FFF2-40B4-BE49-F238E27FC236}">
                <a16:creationId xmlns:a16="http://schemas.microsoft.com/office/drawing/2014/main" id="{843DCFF8-59AB-E500-6DBA-DB001E5DC3AC}"/>
              </a:ext>
            </a:extLst>
          </p:cNvPr>
          <p:cNvSpPr/>
          <p:nvPr/>
        </p:nvSpPr>
        <p:spPr>
          <a:xfrm>
            <a:off x="6766560" y="4206240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1" name="TextBox 109">
            <a:extLst>
              <a:ext uri="{FF2B5EF4-FFF2-40B4-BE49-F238E27FC236}">
                <a16:creationId xmlns:a16="http://schemas.microsoft.com/office/drawing/2014/main" id="{6D7E2A72-940B-4276-91BD-C9B690367608}"/>
              </a:ext>
            </a:extLst>
          </p:cNvPr>
          <p:cNvSpPr txBox="1"/>
          <p:nvPr/>
        </p:nvSpPr>
        <p:spPr>
          <a:xfrm>
            <a:off x="6784848" y="4242816"/>
            <a:ext cx="1243584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silu_640x640</a:t>
            </a:r>
          </a:p>
        </p:txBody>
      </p:sp>
      <p:sp>
        <p:nvSpPr>
          <p:cNvPr id="62" name="Rectangle 110">
            <a:extLst>
              <a:ext uri="{FF2B5EF4-FFF2-40B4-BE49-F238E27FC236}">
                <a16:creationId xmlns:a16="http://schemas.microsoft.com/office/drawing/2014/main" id="{76B5F951-8117-D7E0-1473-6CE52414C961}"/>
              </a:ext>
            </a:extLst>
          </p:cNvPr>
          <p:cNvSpPr/>
          <p:nvPr/>
        </p:nvSpPr>
        <p:spPr>
          <a:xfrm>
            <a:off x="8046720" y="4206240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3" name="TextBox 111">
            <a:extLst>
              <a:ext uri="{FF2B5EF4-FFF2-40B4-BE49-F238E27FC236}">
                <a16:creationId xmlns:a16="http://schemas.microsoft.com/office/drawing/2014/main" id="{28B0D7C5-5DFB-04F6-3F63-B3BDBAA5B1ED}"/>
              </a:ext>
            </a:extLst>
          </p:cNvPr>
          <p:cNvSpPr txBox="1"/>
          <p:nvPr/>
        </p:nvSpPr>
        <p:spPr>
          <a:xfrm>
            <a:off x="8065008" y="4242816"/>
            <a:ext cx="740664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16.3</a:t>
            </a:r>
          </a:p>
        </p:txBody>
      </p:sp>
      <p:sp>
        <p:nvSpPr>
          <p:cNvPr id="64" name="Rectangle 112">
            <a:extLst>
              <a:ext uri="{FF2B5EF4-FFF2-40B4-BE49-F238E27FC236}">
                <a16:creationId xmlns:a16="http://schemas.microsoft.com/office/drawing/2014/main" id="{9D8084F6-6E57-3A3F-C2C8-6C92F4712303}"/>
              </a:ext>
            </a:extLst>
          </p:cNvPr>
          <p:cNvSpPr/>
          <p:nvPr/>
        </p:nvSpPr>
        <p:spPr>
          <a:xfrm>
            <a:off x="8823960" y="4206240"/>
            <a:ext cx="777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5" name="TextBox 113">
            <a:extLst>
              <a:ext uri="{FF2B5EF4-FFF2-40B4-BE49-F238E27FC236}">
                <a16:creationId xmlns:a16="http://schemas.microsoft.com/office/drawing/2014/main" id="{BFB11425-6A0A-3287-134A-77E547D79D4C}"/>
              </a:ext>
            </a:extLst>
          </p:cNvPr>
          <p:cNvSpPr txBox="1"/>
          <p:nvPr/>
        </p:nvSpPr>
        <p:spPr>
          <a:xfrm>
            <a:off x="8842248" y="4242816"/>
            <a:ext cx="740664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22.6</a:t>
            </a:r>
          </a:p>
        </p:txBody>
      </p:sp>
      <p:sp>
        <p:nvSpPr>
          <p:cNvPr id="66" name="Rectangle 114">
            <a:extLst>
              <a:ext uri="{FF2B5EF4-FFF2-40B4-BE49-F238E27FC236}">
                <a16:creationId xmlns:a16="http://schemas.microsoft.com/office/drawing/2014/main" id="{7F37D675-AEAB-A1BB-9FF8-51FB79775A57}"/>
              </a:ext>
            </a:extLst>
          </p:cNvPr>
          <p:cNvSpPr/>
          <p:nvPr/>
        </p:nvSpPr>
        <p:spPr>
          <a:xfrm>
            <a:off x="9601200" y="4206240"/>
            <a:ext cx="868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7" name="TextBox 115">
            <a:extLst>
              <a:ext uri="{FF2B5EF4-FFF2-40B4-BE49-F238E27FC236}">
                <a16:creationId xmlns:a16="http://schemas.microsoft.com/office/drawing/2014/main" id="{308ED569-D156-401E-6F4E-0324DA3C0457}"/>
              </a:ext>
            </a:extLst>
          </p:cNvPr>
          <p:cNvSpPr txBox="1"/>
          <p:nvPr/>
        </p:nvSpPr>
        <p:spPr>
          <a:xfrm>
            <a:off x="9619488" y="4242816"/>
            <a:ext cx="832103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16.8</a:t>
            </a:r>
          </a:p>
        </p:txBody>
      </p:sp>
      <p:sp>
        <p:nvSpPr>
          <p:cNvPr id="68" name="Rectangle 116">
            <a:extLst>
              <a:ext uri="{FF2B5EF4-FFF2-40B4-BE49-F238E27FC236}">
                <a16:creationId xmlns:a16="http://schemas.microsoft.com/office/drawing/2014/main" id="{2F6B319C-8238-0131-CBDC-7BB39A8932C4}"/>
              </a:ext>
            </a:extLst>
          </p:cNvPr>
          <p:cNvSpPr/>
          <p:nvPr/>
        </p:nvSpPr>
        <p:spPr>
          <a:xfrm>
            <a:off x="10469880" y="4206240"/>
            <a:ext cx="868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9" name="TextBox 117">
            <a:extLst>
              <a:ext uri="{FF2B5EF4-FFF2-40B4-BE49-F238E27FC236}">
                <a16:creationId xmlns:a16="http://schemas.microsoft.com/office/drawing/2014/main" id="{5C53D0F7-BAAB-91E9-4BD0-EBAECF3FC938}"/>
              </a:ext>
            </a:extLst>
          </p:cNvPr>
          <p:cNvSpPr txBox="1"/>
          <p:nvPr/>
        </p:nvSpPr>
        <p:spPr>
          <a:xfrm>
            <a:off x="10488167" y="4242816"/>
            <a:ext cx="832103" cy="310896"/>
          </a:xfrm>
          <a:prstGeom prst="rect">
            <a:avLst/>
          </a:prstGeom>
          <a:noFill/>
        </p:spPr>
        <p:txBody>
          <a:bodyPr wrap="square" tIns="0" bIns="0" anchor="ctr">
            <a:normAutofit fontScale="97500"/>
          </a:bodyPr>
          <a:lstStyle/>
          <a:p>
            <a:pPr algn="ctr">
              <a:defRPr sz="1350" b="0">
                <a:solidFill>
                  <a:srgbClr val="2D2D2D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150</a:t>
            </a:r>
          </a:p>
        </p:txBody>
      </p:sp>
      <p:sp>
        <p:nvSpPr>
          <p:cNvPr id="70" name="TextBox 118">
            <a:extLst>
              <a:ext uri="{FF2B5EF4-FFF2-40B4-BE49-F238E27FC236}">
                <a16:creationId xmlns:a16="http://schemas.microsoft.com/office/drawing/2014/main" id="{A6171696-BD56-23D5-25C3-5D45FCA80BA3}"/>
              </a:ext>
            </a:extLst>
          </p:cNvPr>
          <p:cNvSpPr txBox="1"/>
          <p:nvPr/>
        </p:nvSpPr>
        <p:spPr>
          <a:xfrm>
            <a:off x="6766560" y="4754880"/>
            <a:ext cx="4754880" cy="274320"/>
          </a:xfrm>
          <a:prstGeom prst="rect">
            <a:avLst/>
          </a:prstGeom>
          <a:noFill/>
        </p:spPr>
        <p:txBody>
          <a:bodyPr wrap="square" tIns="45720" bIns="45720" anchor="ctr">
            <a:normAutofit fontScale="97500"/>
          </a:bodyPr>
          <a:lstStyle/>
          <a:p>
            <a:pPr algn="l">
              <a:defRPr sz="1200" b="1">
                <a:solidFill>
                  <a:srgbClr val="B85C2A"/>
                </a:solidFill>
                <a:latin typeface="Georgia"/>
              </a:defRPr>
            </a:pPr>
            <a:r>
              <a:rPr>
                <a:latin typeface="+mn-ea"/>
                <a:ea typeface="+mn-ea"/>
              </a:rPr>
              <a:t>★ 推荐模型：relu_480x640，run time 最低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8288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210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Part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14400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48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实践：辰龙</a:t>
            </a:r>
            <a:r>
              <a:rPr dirty="0">
                <a:latin typeface="Georgia" panose="02040502050405020303" pitchFamily="18" charset="0"/>
              </a:rPr>
              <a:t> OS </a:t>
            </a:r>
            <a:r>
              <a:rPr dirty="0" err="1">
                <a:latin typeface="Georgia" panose="02040502050405020303" pitchFamily="18" charset="0"/>
              </a:rPr>
              <a:t>架构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1371600" cy="25400"/>
          </a:xfrm>
          <a:prstGeom prst="rect">
            <a:avLst/>
          </a:prstGeom>
          <a:solidFill>
            <a:srgbClr val="B8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Georgia" panose="02040502050405020303" pitchFamily="18" charset="0"/>
              <a:ea typeface="宋体"/>
              <a:cs typeface="宋体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1440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24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ArceOS 组件化内核 · 分层架构 · 边缘智能 · 闭环控制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45720" bIns="45720" anchor="ctr">
            <a:no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ArceOS</a:t>
            </a:r>
            <a:r>
              <a:rPr dirty="0">
                <a:latin typeface="Georgia" panose="02040502050405020303" pitchFamily="18" charset="0"/>
              </a:rPr>
              <a:t> </a:t>
            </a:r>
            <a:r>
              <a:rPr dirty="0" err="1">
                <a:latin typeface="Georgia" panose="02040502050405020303" pitchFamily="18" charset="0"/>
              </a:rPr>
              <a:t>与辰龙</a:t>
            </a:r>
            <a:r>
              <a:rPr dirty="0">
                <a:latin typeface="Georgia" panose="02040502050405020303" pitchFamily="18" charset="0"/>
              </a:rPr>
              <a:t> OS </a:t>
            </a:r>
            <a:r>
              <a:rPr dirty="0" err="1">
                <a:latin typeface="Georgia" panose="02040502050405020303" pitchFamily="18" charset="0"/>
              </a:rPr>
              <a:t>分层架构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2011680" cy="86868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应用层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0">
                <a:solidFill>
                  <a:srgbClr val="FFFFCC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辰龙 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5029200" cy="8686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0" y="141732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t>即插即用模块 — 避障 · 路径规划 · 视觉抓取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80160"/>
            <a:ext cx="3474720" cy="8686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0" y="14173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快速验证创意，聚焦高层逻辑设计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31720"/>
            <a:ext cx="2011680" cy="86868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23774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功能支撑层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27432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0">
                <a:solidFill>
                  <a:srgbClr val="FFFFCC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辰龙 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331720"/>
            <a:ext cx="5029200" cy="8686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0" y="24688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t>Octos 传感器融合 · 目标识别 · 导航控制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331720"/>
            <a:ext cx="3474720" cy="8686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理解"感知→行动"的核心算法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383280"/>
            <a:ext cx="2011680" cy="868680"/>
          </a:xfrm>
          <a:prstGeom prst="rect">
            <a:avLst/>
          </a:prstGeom>
          <a:solidFill>
            <a:srgbClr val="C0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20" y="34290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Runtime支持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5840" y="37947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0">
                <a:solidFill>
                  <a:srgbClr val="FFFFCC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辰龙 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383280"/>
            <a:ext cx="5029200" cy="8686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0400" y="352044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t>IPC · 同步互斥 · 中断/异常/系统调用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383280"/>
            <a:ext cx="3474720" cy="8686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12480" y="35204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系统级编程基础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434840"/>
            <a:ext cx="2011680" cy="868680"/>
          </a:xfrm>
          <a:prstGeom prst="rect">
            <a:avLst/>
          </a:prstGeom>
          <a:solidFill>
            <a:srgbClr val="B8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5840" y="44805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组件库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463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0">
                <a:solidFill>
                  <a:srgbClr val="FFFFCC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ArceOS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4434840"/>
            <a:ext cx="5029200" cy="8686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00400" y="457200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t>外设驱动 · 文件系统 · 网络协议栈 · 调度器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434840"/>
            <a:ext cx="3474720" cy="8686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12480" y="45720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模块化内核组件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486400"/>
            <a:ext cx="2011680" cy="86868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5840" y="5532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Rust 核心库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8978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700" b="0">
                <a:solidFill>
                  <a:srgbClr val="FFFFCC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ArceOS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5486400"/>
            <a:ext cx="5029200" cy="8686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00400" y="562356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t>core · alloc · Affine Type 所有权安全机制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5486400"/>
            <a:ext cx="3474720" cy="8686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412480" y="5623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内存安全基础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64008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可组合为：宏内核 / 微内核 / 单内核 / VMM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 dirty="0" err="1">
                <a:latin typeface="Georgia" panose="02040502050405020303" pitchFamily="18" charset="0"/>
              </a:rPr>
              <a:t>已实现的设备驱动支持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基于 Rust + ArceOS，已适配 5 类关键硬件驱动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103120" cy="3840480"/>
          </a:xfrm>
          <a:prstGeom prst="roundRect">
            <a:avLst/>
          </a:prstGeom>
          <a:solidFill>
            <a:srgbClr val="F5F3EE"/>
          </a:solidFill>
          <a:ln w="25400">
            <a:solidFill>
              <a:srgbClr val="1A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103120" cy="5943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2000" dirty="0">
                <a:latin typeface="Georgia" panose="02040502050405020303" pitchFamily="18" charset="0"/>
              </a:rPr>
              <a:t>TPU </a:t>
            </a:r>
            <a:r>
              <a:rPr sz="2000" dirty="0" err="1">
                <a:latin typeface="Georgia" panose="02040502050405020303" pitchFamily="18" charset="0"/>
              </a:rPr>
              <a:t>驱动</a:t>
            </a:r>
            <a:endParaRPr sz="2000" dirty="0"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张量处理单元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34640"/>
            <a:ext cx="18288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2011680" cy="228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AI 推理加速</a:t>
            </a:r>
            <a:br/>
            <a:r>
              <a:t>模型本地运行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737360"/>
            <a:ext cx="2103120" cy="3840480"/>
          </a:xfrm>
          <a:prstGeom prst="roundRect">
            <a:avLst/>
          </a:prstGeom>
          <a:solidFill>
            <a:srgbClr val="F5F3EE"/>
          </a:solidFill>
          <a:ln w="25400"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34640" y="1737360"/>
            <a:ext cx="2103120" cy="59436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6080" y="178308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2000" dirty="0">
                <a:latin typeface="Georgia" panose="02040502050405020303" pitchFamily="18" charset="0"/>
              </a:rPr>
              <a:t>USB </a:t>
            </a:r>
            <a:r>
              <a:rPr sz="2000" dirty="0" err="1">
                <a:latin typeface="Georgia" panose="02040502050405020303" pitchFamily="18" charset="0"/>
              </a:rPr>
              <a:t>摄像头驱动</a:t>
            </a:r>
            <a:endParaRPr sz="2000" dirty="0">
              <a:latin typeface="Georgia" panose="02040502050405020303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71800" y="24688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视频采集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834640"/>
            <a:ext cx="18288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80360" y="3017520"/>
            <a:ext cx="2011680" cy="228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图像输入</a:t>
            </a:r>
            <a:br/>
            <a:r>
              <a:t>视觉感知基础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737360"/>
            <a:ext cx="2103120" cy="3840480"/>
          </a:xfrm>
          <a:prstGeom prst="roundRect">
            <a:avLst/>
          </a:prstGeom>
          <a:solidFill>
            <a:srgbClr val="F5F3EE"/>
          </a:solidFill>
          <a:ln w="25400">
            <a:solidFill>
              <a:srgbClr val="B8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20640" y="1737360"/>
            <a:ext cx="2103120" cy="594360"/>
          </a:xfrm>
          <a:prstGeom prst="rect">
            <a:avLst/>
          </a:prstGeom>
          <a:solidFill>
            <a:srgbClr val="B8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12080" y="178308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2000">
                <a:latin typeface="Georgia" panose="02040502050405020303" pitchFamily="18" charset="0"/>
              </a:rPr>
              <a:t>SD 卡驱动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4688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存储扩展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2834640"/>
            <a:ext cx="18288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66360" y="3017520"/>
            <a:ext cx="2011680" cy="228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数据记录</a:t>
            </a:r>
            <a:br/>
            <a:r>
              <a:t>文件系统支持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737360"/>
            <a:ext cx="2103120" cy="3840480"/>
          </a:xfrm>
          <a:prstGeom prst="roundRect">
            <a:avLst/>
          </a:prstGeom>
          <a:solidFill>
            <a:srgbClr val="F5F3EE"/>
          </a:solidFill>
          <a:ln w="25400">
            <a:solidFill>
              <a:srgbClr val="6B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06640" y="1737360"/>
            <a:ext cx="2103120" cy="5943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98080" y="178308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2000">
                <a:latin typeface="Georgia" panose="02040502050405020303" pitchFamily="18" charset="0"/>
              </a:rPr>
              <a:t>JPU 驱动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4688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6B5B95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图像处理单元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2834640"/>
            <a:ext cx="18288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52360" y="3017520"/>
            <a:ext cx="2011680" cy="228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硬件编解码</a:t>
            </a:r>
            <a:br/>
            <a:r>
              <a:t>图像预处理加速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737360"/>
            <a:ext cx="2103120" cy="3840480"/>
          </a:xfrm>
          <a:prstGeom prst="roundRect">
            <a:avLst/>
          </a:prstGeom>
          <a:solidFill>
            <a:srgbClr val="F5F3EE"/>
          </a:solidFill>
          <a:ln w="25400"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692640" y="1737360"/>
            <a:ext cx="2103120" cy="59436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784080" y="178308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2000">
                <a:latin typeface="Georgia" panose="02040502050405020303" pitchFamily="18" charset="0"/>
              </a:rPr>
              <a:t>WiFi 驱动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4688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无线通信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9800" y="2834640"/>
            <a:ext cx="18288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738360" y="3017520"/>
            <a:ext cx="2011680" cy="228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网络连接</a:t>
            </a:r>
            <a:br/>
            <a:r>
              <a:t>远程控制与调试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全部使用 Rust 实现：内存安全 · 零成本抽象 · 模块化可组合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核心能力：边缘智能 · 闭环控制 · 开源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3383280" cy="493776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3383280" cy="50292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13898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边缘智能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t>零延迟响应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视觉→决策→执行全程本地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离线可用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rPr dirty="0" err="1"/>
              <a:t>不依赖</a:t>
            </a:r>
            <a:r>
              <a:rPr dirty="0"/>
              <a:t> Wi-Fi </a:t>
            </a:r>
            <a:r>
              <a:rPr dirty="0" err="1"/>
              <a:t>或云端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30175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t>隐私安全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150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数据不出设备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371600"/>
            <a:ext cx="3383280" cy="493776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0" y="1371600"/>
            <a:ext cx="3383280" cy="50292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09160" y="13898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完整闭环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1031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感知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4231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视觉目标检测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2004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→ 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5204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导航与路径规划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2976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→ 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6177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机械臂控制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3949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2E7D6B"/>
                </a:solidFill>
                <a:latin typeface="宋体"/>
                <a:ea typeface="宋体"/>
                <a:cs typeface="宋体"/>
              </a:defRPr>
            </a:pPr>
            <a:r>
              <a:t>→ 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7150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持续反馈迭代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371600"/>
            <a:ext cx="3383280" cy="493776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229600" y="1371600"/>
            <a:ext cx="3383280" cy="502920"/>
          </a:xfrm>
          <a:prstGeom prst="rect">
            <a:avLst/>
          </a:prstGeom>
          <a:solidFill>
            <a:srgbClr val="B8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66760" y="13898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>
                <a:latin typeface="Georgia" panose="02040502050405020303" pitchFamily="18" charset="0"/>
              </a:rPr>
              <a:t>开源可扩展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1031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t>硬件可改造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4231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夹爪/传感器自由替换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5204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系统可创新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2976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t>接入多模态大模型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617720"/>
            <a:ext cx="30175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12480" y="53949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t>全栈开源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7150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软硬件系统完全开放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tIns="36576" bIns="36576" anchor="ctr">
            <a:no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t>总结与下一步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05840"/>
            <a:ext cx="914400" cy="25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6766560" cy="493776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A5C8A"/>
                </a:solidFill>
                <a:latin typeface="宋体"/>
                <a:ea typeface="宋体"/>
                <a:cs typeface="宋体"/>
              </a:defRPr>
            </a:pPr>
            <a:r>
              <a:t>核心结论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965960"/>
            <a:ext cx="621792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71600" y="2431474"/>
            <a:ext cx="73152" cy="7315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229431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/>
              <a:t>Linux </a:t>
            </a:r>
            <a:r>
              <a:rPr dirty="0" err="1"/>
              <a:t>是通用承载层，但不是完整的机器人</a:t>
            </a:r>
            <a:r>
              <a:rPr dirty="0"/>
              <a:t> 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086793"/>
            <a:ext cx="73152" cy="7315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5920" y="2949633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/>
              <a:t>7 </a:t>
            </a:r>
            <a:r>
              <a:rPr dirty="0" err="1"/>
              <a:t>个关键缺口需要在</a:t>
            </a:r>
            <a:r>
              <a:rPr dirty="0"/>
              <a:t> OS </a:t>
            </a:r>
            <a:r>
              <a:rPr dirty="0" err="1"/>
              <a:t>层面系统性解决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1371600" y="3791993"/>
            <a:ext cx="73152" cy="7315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3654833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/>
              <a:t>Rust + </a:t>
            </a:r>
            <a:r>
              <a:rPr dirty="0" err="1"/>
              <a:t>ArceOS</a:t>
            </a:r>
            <a:r>
              <a:rPr dirty="0"/>
              <a:t> </a:t>
            </a:r>
            <a:r>
              <a:rPr dirty="0" err="1"/>
              <a:t>提供了可行的技术路径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1371600" y="4608022"/>
            <a:ext cx="73152" cy="7315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5920" y="447086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/>
              <a:t>AI </a:t>
            </a:r>
            <a:r>
              <a:rPr dirty="0" err="1"/>
              <a:t>正在改变底层系统开发的范式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1371600" y="5512726"/>
            <a:ext cx="73152" cy="7315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20" y="537556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 err="1"/>
              <a:t>边缘智能</a:t>
            </a:r>
            <a:r>
              <a:rPr dirty="0"/>
              <a:t> + </a:t>
            </a:r>
            <a:r>
              <a:rPr dirty="0" err="1"/>
              <a:t>完整闭环</a:t>
            </a:r>
            <a:r>
              <a:rPr dirty="0"/>
              <a:t> = </a:t>
            </a:r>
            <a:r>
              <a:rPr dirty="0" err="1"/>
              <a:t>可靠的具身智能系统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3657600" cy="493776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15544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6B5B95"/>
                </a:solidFill>
                <a:latin typeface="宋体"/>
                <a:ea typeface="宋体"/>
                <a:cs typeface="宋体"/>
              </a:defRPr>
            </a:pPr>
            <a:r>
              <a:t>下一步方向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965960"/>
            <a:ext cx="310896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321040" y="2194560"/>
            <a:ext cx="3108960" cy="10972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0" y="22860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rPr dirty="0"/>
              <a:t>Agentic OS </a:t>
            </a:r>
            <a:r>
              <a:rPr dirty="0" err="1"/>
              <a:t>深化</a:t>
            </a:r>
            <a:br>
              <a:rPr dirty="0"/>
            </a:br>
            <a:r>
              <a:rPr dirty="0" err="1"/>
              <a:t>技能图</a:t>
            </a:r>
            <a:r>
              <a:rPr dirty="0"/>
              <a:t> + </a:t>
            </a:r>
            <a:r>
              <a:rPr dirty="0" err="1"/>
              <a:t>任务编排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8321040" y="3566160"/>
            <a:ext cx="3108960" cy="10972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03920" y="36576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多机协同</a:t>
            </a:r>
            <a:br/>
            <a:r>
              <a:t>分布式调度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4937760"/>
            <a:ext cx="3108960" cy="1097280"/>
          </a:xfrm>
          <a:prstGeom prst="rect">
            <a:avLst/>
          </a:prstGeom>
          <a:solidFill>
            <a:srgbClr val="F5F3EE"/>
          </a:solidFill>
          <a:ln w="12700"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03920" y="50292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更多 AI 加速实践：驱动 / 逆向 / 测试</a:t>
            </a:r>
            <a:br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8288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2100" b="1">
                <a:solidFill>
                  <a:srgbClr val="B85C2A"/>
                </a:solidFill>
                <a:latin typeface="宋体"/>
                <a:ea typeface="宋体"/>
                <a:cs typeface="宋体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14400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4800" b="1">
                <a:solidFill>
                  <a:srgbClr val="2D2D2D"/>
                </a:solidFill>
                <a:latin typeface="宋体"/>
                <a:ea typeface="宋体"/>
                <a:cs typeface="宋体"/>
              </a:defRPr>
            </a:pPr>
            <a:r>
              <a:t>谢谢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1371600" cy="25400"/>
          </a:xfrm>
          <a:prstGeom prst="rect">
            <a:avLst/>
          </a:prstGeom>
          <a:solidFill>
            <a:srgbClr val="B8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latin typeface="宋体"/>
              <a:ea typeface="宋体"/>
              <a:cs typeface="宋体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1440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defRPr sz="2400" b="0">
                <a:solidFill>
                  <a:srgbClr val="555555"/>
                </a:solidFill>
                <a:latin typeface="宋体"/>
                <a:ea typeface="宋体"/>
                <a:cs typeface="宋体"/>
              </a:defRPr>
            </a:pPr>
            <a:r>
              <a:t>欢迎交流与讨论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>
              <a:defRPr sz="1350" b="0">
                <a:solidFill>
                  <a:srgbClr val="888888"/>
                </a:solidFill>
                <a:latin typeface="宋体"/>
                <a:ea typeface="宋体"/>
                <a:cs typeface="宋体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宋体"/>
        <a:ea typeface="宋体"/>
        <a:cs typeface="宋体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宋体"/>
        <a:cs typeface="宋体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noAutofit/>
      </a:bodyPr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>
        <a:noAutofit/>
      </a:bodyPr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1204</Words>
  <Application>Microsoft Office PowerPoint</Application>
  <PresentationFormat>宽屏</PresentationFormat>
  <Paragraphs>364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宋体</vt:lpstr>
      <vt:lpstr>Arial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吴青山</dc:creator>
  <cp:keywords/>
  <dc:description>generated using python-pptx</dc:description>
  <cp:lastModifiedBy>青山 吴</cp:lastModifiedBy>
  <cp:revision>63</cp:revision>
  <dcterms:created xsi:type="dcterms:W3CDTF">2013-01-27T09:14:16Z</dcterms:created>
  <dcterms:modified xsi:type="dcterms:W3CDTF">2026-07-05T05:14:35Z</dcterms:modified>
  <cp:category/>
</cp:coreProperties>
</file>