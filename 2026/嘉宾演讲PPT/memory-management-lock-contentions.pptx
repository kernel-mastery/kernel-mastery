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1.webp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7.xml"/><Relationship Id="rId5" Type="http://schemas.openxmlformats.org/officeDocument/2006/relationships/hyperlink" Target="https://lore.kernel.org/all/cover.1764297987.git.zhanghongru@xiaomi.com/" TargetMode="External"/><Relationship Id="rId4" Type="http://schemas.openxmlformats.org/officeDocument/2006/relationships/hyperlink" Target="https://lore.kernel.org/all/20260626015003.2965881-4-haowenchao22@gmail.com/" TargetMode="External"/><Relationship Id="rId3" Type="http://schemas.openxmlformats.org/officeDocument/2006/relationships/hyperlink" Target="https://lore.kernel.org/linux-mm/20240415081220.3246839-1-wangkefeng.wang@huawei.com/" TargetMode="Externa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0.xml"/><Relationship Id="rId4" Type="http://schemas.openxmlformats.org/officeDocument/2006/relationships/image" Target="../media/image2.png"/><Relationship Id="rId3" Type="http://schemas.openxmlformats.org/officeDocument/2006/relationships/hyperlink" Target="https://lwn.net/Articles/1072378/&#13;" TargetMode="Externa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260" y="1410335"/>
            <a:ext cx="9799200" cy="2570400"/>
          </a:xfrm>
        </p:spPr>
        <p:txBody>
          <a:bodyPr/>
          <a:p>
            <a:r>
              <a:rPr lang="en-US"/>
              <a:t>memory management lock contentions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025015" y="4586605"/>
            <a:ext cx="9799320" cy="1031875"/>
          </a:xfrm>
        </p:spPr>
        <p:txBody>
          <a:bodyPr>
            <a:normAutofit lnSpcReduction="20000"/>
          </a:bodyPr>
          <a:p>
            <a:pPr algn="r"/>
            <a:r>
              <a:rPr lang="en-US"/>
              <a:t>                               Barry Song</a:t>
            </a:r>
            <a:endParaRPr lang="en-US"/>
          </a:p>
          <a:p>
            <a:pPr algn="r"/>
            <a:r>
              <a:rPr lang="en-US"/>
              <a:t>July 5, 2026</a:t>
            </a:r>
            <a:endParaRPr lang="en-US"/>
          </a:p>
          <a:p>
            <a:pPr algn="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mm locks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mmap_lock</a:t>
            </a:r>
            <a:endParaRPr lang="en-US"/>
          </a:p>
          <a:p>
            <a:r>
              <a:rPr lang="en-US"/>
              <a:t>lru lock</a:t>
            </a:r>
            <a:endParaRPr lang="en-US"/>
          </a:p>
          <a:p>
            <a:r>
              <a:rPr lang="en-US"/>
              <a:t>zone lock</a:t>
            </a:r>
            <a:endParaRPr lang="en-US"/>
          </a:p>
          <a:p>
            <a:r>
              <a:rPr lang="en-US"/>
              <a:t>anon_vma root lock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mmap_lock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7352030" cy="4759325"/>
          </a:xfrm>
        </p:spPr>
        <p:txBody>
          <a:bodyPr/>
          <a:p>
            <a:r>
              <a:rPr lang="en-US" altLang="en-US"/>
              <a:t>Per-VMA lock replaces mmap_lock in most places;</a:t>
            </a:r>
            <a:endParaRPr lang="en-US" altLang="en-US"/>
          </a:p>
          <a:p>
            <a:r>
              <a:rPr lang="en-US" altLang="en-US"/>
              <a:t>however, I/O wait triggers a page-fault retry, and that retry path still uses mmap_lock.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retry PF by vma-lock ? or,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entirely remove PF retry code ?</a:t>
            </a:r>
            <a:endParaRPr lang="en-US" altLang="en-US"/>
          </a:p>
        </p:txBody>
      </p:sp>
      <p:sp>
        <p:nvSpPr>
          <p:cNvPr id="4" name="Rounded Rectangle 3"/>
          <p:cNvSpPr/>
          <p:nvPr/>
        </p:nvSpPr>
        <p:spPr>
          <a:xfrm>
            <a:off x="8968740" y="1024890"/>
            <a:ext cx="1920240" cy="615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PF by VMA lock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1238865" y="1841500"/>
            <a:ext cx="650875" cy="279717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I/O</a:t>
            </a: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9772650" y="1663700"/>
            <a:ext cx="0" cy="3790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968740" y="3412490"/>
            <a:ext cx="1920240" cy="61595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release VMA lock</a:t>
            </a: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8968740" y="4638675"/>
            <a:ext cx="1920240" cy="615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ym typeface="+mn-ea"/>
              </a:rPr>
              <a:t>folio_wait_locked/folio_lock</a:t>
            </a:r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9723755" y="4062730"/>
            <a:ext cx="0" cy="5416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968740" y="5746115"/>
            <a:ext cx="1920240" cy="61595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retry PF by mmap_lock</a:t>
            </a:r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9688195" y="5260340"/>
            <a:ext cx="0" cy="4095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Flowchart: Decision 12"/>
          <p:cNvSpPr/>
          <p:nvPr/>
        </p:nvSpPr>
        <p:spPr>
          <a:xfrm>
            <a:off x="8594090" y="2038350"/>
            <a:ext cx="2294890" cy="615315"/>
          </a:xfrm>
          <a:prstGeom prst="flowChartDecis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folio_</a:t>
            </a:r>
            <a:endParaRPr lang="en-US"/>
          </a:p>
          <a:p>
            <a:pPr algn="ctr"/>
            <a:r>
              <a:rPr lang="en-US"/>
              <a:t>trylock</a:t>
            </a:r>
            <a:endParaRPr lang="en-US"/>
          </a:p>
        </p:txBody>
      </p:sp>
      <p:cxnSp>
        <p:nvCxnSpPr>
          <p:cNvPr id="14" name="Elbow Connector 13"/>
          <p:cNvCxnSpPr>
            <a:stCxn id="13" idx="1"/>
          </p:cNvCxnSpPr>
          <p:nvPr/>
        </p:nvCxnSpPr>
        <p:spPr>
          <a:xfrm rot="10800000" flipV="1">
            <a:off x="8335010" y="2346325"/>
            <a:ext cx="258445" cy="43408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3" idx="2"/>
          </p:cNvCxnSpPr>
          <p:nvPr/>
        </p:nvCxnSpPr>
        <p:spPr>
          <a:xfrm>
            <a:off x="9741535" y="2653665"/>
            <a:ext cx="0" cy="7569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>
            <a:off x="8010525" y="3317240"/>
            <a:ext cx="374015" cy="427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>
                <a:solidFill>
                  <a:srgbClr val="FF0000"/>
                </a:solidFill>
              </a:rPr>
              <a:t>Y</a:t>
            </a:r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9755505" y="2839720"/>
            <a:ext cx="374015" cy="427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>
                <a:solidFill>
                  <a:srgbClr val="FF0000"/>
                </a:solidFill>
              </a:rPr>
              <a:t>N</a:t>
            </a:r>
            <a:endParaRPr lang="en-US" sz="2400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lru lock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6158230" cy="4759325"/>
          </a:xfrm>
        </p:spPr>
        <p:txBody>
          <a:bodyPr/>
          <a:p>
            <a:r>
              <a:rPr lang="en-US" altLang="en-US"/>
              <a:t>JP Kobryn: mm/lruvec: preemptively free dead folios during lru_add drain</a:t>
            </a:r>
            <a:endParaRPr lang="en-US" altLang="en-US"/>
          </a:p>
          <a:p>
            <a:r>
              <a:rPr lang="en-US" altLang="en-US"/>
              <a:t>Usama Arif: mm/swap_state: remove unnecessary lru_add_drain() from readahead</a:t>
            </a:r>
            <a:endParaRPr lang="en-US" altLang="en-US"/>
          </a:p>
          <a:p>
            <a:r>
              <a:rPr lang="en-US" altLang="en-US"/>
              <a:t>Barry Song: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[PATCH v3 0/4] mm: drop redundant lru_add_drain in anon folio reuse paths</a:t>
            </a:r>
            <a:endParaRPr lang="en-US" altLang="en-US"/>
          </a:p>
          <a:p>
            <a:pPr algn="l">
              <a:buClrTx/>
              <a:buSzTx/>
            </a:pPr>
            <a:r>
              <a:rPr lang="en-US" altLang="en-US"/>
              <a:t>Barry Song: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[RFC PATCH] mm: allow smaller large folios to use lru_cache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6927215" y="1313815"/>
            <a:ext cx="5264785" cy="36042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784930"/>
            <a:ext cx="10969200" cy="705600"/>
          </a:xfrm>
        </p:spPr>
        <p:txBody>
          <a:bodyPr/>
          <a:p>
            <a:r>
              <a:rPr lang="en-US"/>
              <a:t>zone lock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algn="l">
              <a:buClrTx/>
              <a:buSzTx/>
            </a:pPr>
            <a:r>
              <a:rPr lang="en-US" altLang="en-US"/>
              <a:t>PCP</a:t>
            </a:r>
            <a:endParaRPr lang="en-US" altLang="en-US"/>
          </a:p>
          <a:p>
            <a:pPr algn="l">
              <a:buClrTx/>
              <a:buSzTx/>
            </a:pPr>
            <a:r>
              <a:rPr lang="en-US" altLang="en-US"/>
              <a:t>Kengfeng Wang:</a:t>
            </a:r>
            <a:endParaRPr lang="en-US" altLang="en-US"/>
          </a:p>
          <a:p>
            <a:pPr marL="0" indent="0" algn="l">
              <a:buClrTx/>
              <a:buSzTx/>
              <a:buNone/>
            </a:pPr>
            <a:r>
              <a:rPr lang="en-US" altLang="en-US">
                <a:hlinkClick r:id="rId3" tooltip="" action="ppaction://hlinkfile"/>
              </a:rPr>
              <a:t>[PATCH rfc 0/3] mm: allow more high-order pages stored on PCP lists</a:t>
            </a:r>
            <a:endParaRPr lang="en-US" altLang="en-US"/>
          </a:p>
          <a:p>
            <a:pPr algn="l">
              <a:buClrTx/>
              <a:buSzTx/>
            </a:pPr>
            <a:r>
              <a:rPr lang="en-US" altLang="en-US"/>
              <a:t>Wenchao Hao/</a:t>
            </a:r>
            <a:r>
              <a:rPr lang="en-US" altLang="en-US">
                <a:sym typeface="+mn-ea"/>
              </a:rPr>
              <a:t>Xueyuan Chen: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[PATCH v6 0/4] mm/zsmalloc: reduce lock contention in zs_free()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</a:t>
            </a:r>
            <a:r>
              <a:rPr lang="en-US" altLang="en-US">
                <a:hlinkClick r:id="rId4" tooltip="" action="ppaction://hlinkfile"/>
              </a:rPr>
              <a:t>mm/zsmalloc: drop class lock before freeing zspage</a:t>
            </a:r>
            <a:endParaRPr lang="en-US" altLang="en-US"/>
          </a:p>
          <a:p>
            <a:pPr algn="l">
              <a:buClrTx/>
              <a:buSzTx/>
            </a:pPr>
            <a:r>
              <a:rPr lang="en-US" altLang="en-US"/>
              <a:t>Hongru Zhang: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hlinkClick r:id="rId5" tooltip="" action="ppaction://hlinkfile"/>
              </a:rPr>
              <a:t>[PATCH 0/3] mm: add per-migratetype counts to buddy allocator and optimize pagetypeinfo access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anon_vma-&gt;root-&gt;rwsem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Lorenzo Stoakes: rewrite rmap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hlinkClick r:id="rId3" tooltip="" action="ppaction://hlinkfile"/>
              </a:rPr>
              <a:t>Keeping COWs in context (a.k.a. anonymous reverse mapping)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650" y="1313815"/>
            <a:ext cx="6046470" cy="35833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1202</Words>
  <Application>WPS Presentation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等线 Light</vt:lpstr>
      <vt:lpstr>汉仪中等线KW</vt:lpstr>
      <vt:lpstr>汉仪书宋二KW</vt:lpstr>
      <vt:lpstr>等线</vt:lpstr>
      <vt:lpstr>SimSun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 lock contentions</dc:title>
  <dc:creator>barrysong</dc:creator>
  <cp:lastModifiedBy>Barry Song</cp:lastModifiedBy>
  <cp:revision>25</cp:revision>
  <dcterms:created xsi:type="dcterms:W3CDTF">2026-07-04T23:13:33Z</dcterms:created>
  <dcterms:modified xsi:type="dcterms:W3CDTF">2026-07-04T23:13:33Z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AC2E5186FEBF23605315496A0ADABC78_41</vt:lpwstr>
  </property>
</Properties>
</file>